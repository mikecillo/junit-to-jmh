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8288000" cy="10287000"/>
  <p:notesSz cx="6858000" cy="9144000"/>
  <p:embeddedFontLst>
    <p:embeddedFont>
      <p:font typeface="TT Lakes Neue Expanded Bold" charset="1" panose="02010001040000080307"/>
      <p:regular r:id="rId25"/>
    </p:embeddedFont>
    <p:embeddedFont>
      <p:font typeface="Poppins" charset="1" panose="00000500000000000000"/>
      <p:regular r:id="rId26"/>
    </p:embeddedFont>
    <p:embeddedFont>
      <p:font typeface="Poppins Bold" charset="1" panose="0000080000000000000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12" Target="../media/image11.svg" Type="http://schemas.openxmlformats.org/officeDocument/2006/relationships/image"/><Relationship Id="rId13" Target="../media/image12.png" Type="http://schemas.openxmlformats.org/officeDocument/2006/relationships/image"/><Relationship Id="rId14" Target="../media/image13.svg" Type="http://schemas.openxmlformats.org/officeDocument/2006/relationships/image"/><Relationship Id="rId15" Target="../media/image14.jpeg" Type="http://schemas.openxmlformats.org/officeDocument/2006/relationships/image"/><Relationship Id="rId16" Target="../media/image15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14.jpeg" Type="http://schemas.openxmlformats.org/officeDocument/2006/relationships/image"/><Relationship Id="rId12" Target="../media/image15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3.png" Type="http://schemas.openxmlformats.org/officeDocument/2006/relationships/image"/><Relationship Id="rId7" Target="../media/image10.png" Type="http://schemas.openxmlformats.org/officeDocument/2006/relationships/image"/><Relationship Id="rId8" Target="../media/image11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3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14.jpeg" Type="http://schemas.openxmlformats.org/officeDocument/2006/relationships/image"/><Relationship Id="rId14" Target="../media/image15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8.png" Type="http://schemas.openxmlformats.org/officeDocument/2006/relationships/image"/><Relationship Id="rId5" Target="../media/image19.svg" Type="http://schemas.openxmlformats.org/officeDocument/2006/relationships/image"/><Relationship Id="rId6" Target="../media/image3.png" Type="http://schemas.openxmlformats.org/officeDocument/2006/relationships/image"/><Relationship Id="rId7" Target="../media/image20.png" Type="http://schemas.openxmlformats.org/officeDocument/2006/relationships/image"/><Relationship Id="rId8" Target="../media/image21.svg" Type="http://schemas.openxmlformats.org/officeDocument/2006/relationships/image"/><Relationship Id="rId9" Target="../media/image2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3.pn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Relationship Id="rId7" Target="../media/image26.png" Type="http://schemas.openxmlformats.org/officeDocument/2006/relationships/image"/><Relationship Id="rId8" Target="../media/image27.svg" Type="http://schemas.openxmlformats.org/officeDocument/2006/relationships/image"/><Relationship Id="rId9" Target="../media/image14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Relationship Id="rId3" Target="../media/image29.svg" Type="http://schemas.openxmlformats.org/officeDocument/2006/relationships/image"/><Relationship Id="rId4" Target="../media/image3.png" Type="http://schemas.openxmlformats.org/officeDocument/2006/relationships/image"/><Relationship Id="rId5" Target="../media/image15.png" Type="http://schemas.openxmlformats.org/officeDocument/2006/relationships/image"/><Relationship Id="rId6" Target="../media/image1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3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5.png" Type="http://schemas.openxmlformats.org/officeDocument/2006/relationships/image"/><Relationship Id="rId8" Target="../media/image14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3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5.png" Type="http://schemas.openxmlformats.org/officeDocument/2006/relationships/image"/><Relationship Id="rId8" Target="../media/image14.jpe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2.png" Type="http://schemas.openxmlformats.org/officeDocument/2006/relationships/image"/><Relationship Id="rId11" Target="../media/image33.png" Type="http://schemas.openxmlformats.org/officeDocument/2006/relationships/image"/><Relationship Id="rId12" Target="../media/image34.png" Type="http://schemas.openxmlformats.org/officeDocument/2006/relationships/image"/><Relationship Id="rId13" Target="../media/image35.png" Type="http://schemas.openxmlformats.org/officeDocument/2006/relationships/image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3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5.png" Type="http://schemas.openxmlformats.org/officeDocument/2006/relationships/image"/><Relationship Id="rId8" Target="../media/image14.jpeg" Type="http://schemas.openxmlformats.org/officeDocument/2006/relationships/image"/><Relationship Id="rId9" Target="../media/image3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3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5.png" Type="http://schemas.openxmlformats.org/officeDocument/2006/relationships/image"/><Relationship Id="rId8" Target="../media/image14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3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5.png" Type="http://schemas.openxmlformats.org/officeDocument/2006/relationships/image"/><Relationship Id="rId8" Target="../media/image14.jpeg" Type="http://schemas.openxmlformats.org/officeDocument/2006/relationships/image"/><Relationship Id="rId9" Target="../media/image36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8.png" Type="http://schemas.openxmlformats.org/officeDocument/2006/relationships/image"/><Relationship Id="rId11" Target="../media/image39.png" Type="http://schemas.openxmlformats.org/officeDocument/2006/relationships/image"/><Relationship Id="rId12" Target="../media/image40.png" Type="http://schemas.openxmlformats.org/officeDocument/2006/relationships/image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3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5.png" Type="http://schemas.openxmlformats.org/officeDocument/2006/relationships/image"/><Relationship Id="rId8" Target="../media/image14.jpeg" Type="http://schemas.openxmlformats.org/officeDocument/2006/relationships/image"/><Relationship Id="rId9" Target="../media/image3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3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5.png" Type="http://schemas.openxmlformats.org/officeDocument/2006/relationships/image"/><Relationship Id="rId8" Target="../media/image14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3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5.png" Type="http://schemas.openxmlformats.org/officeDocument/2006/relationships/image"/><Relationship Id="rId8" Target="../media/image14.jpeg" Type="http://schemas.openxmlformats.org/officeDocument/2006/relationships/image"/><Relationship Id="rId9" Target="../media/image4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3.png" Type="http://schemas.openxmlformats.org/officeDocument/2006/relationships/image"/><Relationship Id="rId11" Target="../media/image44.png" Type="http://schemas.openxmlformats.org/officeDocument/2006/relationships/image"/><Relationship Id="rId12" Target="../media/image45.png" Type="http://schemas.openxmlformats.org/officeDocument/2006/relationships/image"/><Relationship Id="rId13" Target="../media/image46.png" Type="http://schemas.openxmlformats.org/officeDocument/2006/relationships/image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3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5.png" Type="http://schemas.openxmlformats.org/officeDocument/2006/relationships/image"/><Relationship Id="rId8" Target="../media/image14.jpeg" Type="http://schemas.openxmlformats.org/officeDocument/2006/relationships/image"/><Relationship Id="rId9" Target="../media/image4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14.jpeg" Type="http://schemas.openxmlformats.org/officeDocument/2006/relationships/image"/><Relationship Id="rId7" Target="../media/image15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7.png" Type="http://schemas.openxmlformats.org/officeDocument/2006/relationships/image"/><Relationship Id="rId3" Target="../media/image48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3.png" Type="http://schemas.openxmlformats.org/officeDocument/2006/relationships/image"/><Relationship Id="rId7" Target="../media/image49.png" Type="http://schemas.openxmlformats.org/officeDocument/2006/relationships/image"/><Relationship Id="rId8" Target="../media/image15.png" Type="http://schemas.openxmlformats.org/officeDocument/2006/relationships/image"/><Relationship Id="rId9" Target="../media/image14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.png" Type="http://schemas.openxmlformats.org/officeDocument/2006/relationships/image"/><Relationship Id="rId11" Target="../media/image23.svg" Type="http://schemas.openxmlformats.org/officeDocument/2006/relationships/image"/><Relationship Id="rId12" Target="../media/image15.png" Type="http://schemas.openxmlformats.org/officeDocument/2006/relationships/image"/><Relationship Id="rId13" Target="../media/image14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50.png" Type="http://schemas.openxmlformats.org/officeDocument/2006/relationships/image"/><Relationship Id="rId9" Target="../media/image51.sv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.png" Type="http://schemas.openxmlformats.org/officeDocument/2006/relationships/image"/><Relationship Id="rId11" Target="../media/image23.svg" Type="http://schemas.openxmlformats.org/officeDocument/2006/relationships/image"/><Relationship Id="rId12" Target="../media/image15.png" Type="http://schemas.openxmlformats.org/officeDocument/2006/relationships/image"/><Relationship Id="rId13" Target="../media/image14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50.png" Type="http://schemas.openxmlformats.org/officeDocument/2006/relationships/image"/><Relationship Id="rId9" Target="../media/image51.sv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4.jpeg" Type="http://schemas.openxmlformats.org/officeDocument/2006/relationships/image"/><Relationship Id="rId6" Target="../media/image1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771865" y="-485270"/>
            <a:ext cx="11706247" cy="11706247"/>
          </a:xfrm>
          <a:custGeom>
            <a:avLst/>
            <a:gdLst/>
            <a:ahLst/>
            <a:cxnLst/>
            <a:rect r="r" b="b" t="t" l="l"/>
            <a:pathLst>
              <a:path h="11706247" w="11706247">
                <a:moveTo>
                  <a:pt x="0" y="0"/>
                </a:moveTo>
                <a:lnTo>
                  <a:pt x="11706247" y="0"/>
                </a:lnTo>
                <a:lnTo>
                  <a:pt x="11706247" y="11706247"/>
                </a:lnTo>
                <a:lnTo>
                  <a:pt x="0" y="117062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955865" y="837130"/>
            <a:ext cx="6994113" cy="8229600"/>
          </a:xfrm>
          <a:custGeom>
            <a:avLst/>
            <a:gdLst/>
            <a:ahLst/>
            <a:cxnLst/>
            <a:rect r="r" b="b" t="t" l="l"/>
            <a:pathLst>
              <a:path h="8229600" w="6994113">
                <a:moveTo>
                  <a:pt x="0" y="0"/>
                </a:moveTo>
                <a:lnTo>
                  <a:pt x="6994113" y="0"/>
                </a:lnTo>
                <a:lnTo>
                  <a:pt x="699411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033811" y="837130"/>
            <a:ext cx="6994113" cy="8229600"/>
          </a:xfrm>
          <a:custGeom>
            <a:avLst/>
            <a:gdLst/>
            <a:ahLst/>
            <a:cxnLst/>
            <a:rect r="r" b="b" t="t" l="l"/>
            <a:pathLst>
              <a:path h="8229600" w="6994113">
                <a:moveTo>
                  <a:pt x="0" y="0"/>
                </a:moveTo>
                <a:lnTo>
                  <a:pt x="6994112" y="0"/>
                </a:lnTo>
                <a:lnTo>
                  <a:pt x="699411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47863" y="1483113"/>
            <a:ext cx="16992275" cy="7291231"/>
          </a:xfrm>
          <a:custGeom>
            <a:avLst/>
            <a:gdLst/>
            <a:ahLst/>
            <a:cxnLst/>
            <a:rect r="r" b="b" t="t" l="l"/>
            <a:pathLst>
              <a:path h="7291231" w="16992275">
                <a:moveTo>
                  <a:pt x="0" y="0"/>
                </a:moveTo>
                <a:lnTo>
                  <a:pt x="16992274" y="0"/>
                </a:lnTo>
                <a:lnTo>
                  <a:pt x="16992274" y="7291230"/>
                </a:lnTo>
                <a:lnTo>
                  <a:pt x="0" y="729123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998753" y="1316099"/>
            <a:ext cx="4292360" cy="5991873"/>
          </a:xfrm>
          <a:custGeom>
            <a:avLst/>
            <a:gdLst/>
            <a:ahLst/>
            <a:cxnLst/>
            <a:rect r="r" b="b" t="t" l="l"/>
            <a:pathLst>
              <a:path h="5991873" w="4292360">
                <a:moveTo>
                  <a:pt x="0" y="0"/>
                </a:moveTo>
                <a:lnTo>
                  <a:pt x="4292361" y="0"/>
                </a:lnTo>
                <a:lnTo>
                  <a:pt x="4292361" y="5991874"/>
                </a:lnTo>
                <a:lnTo>
                  <a:pt x="0" y="599187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237379" y="1844058"/>
            <a:ext cx="5522749" cy="7047591"/>
          </a:xfrm>
          <a:custGeom>
            <a:avLst/>
            <a:gdLst/>
            <a:ahLst/>
            <a:cxnLst/>
            <a:rect r="r" b="b" t="t" l="l"/>
            <a:pathLst>
              <a:path h="7047591" w="5522749">
                <a:moveTo>
                  <a:pt x="0" y="0"/>
                </a:moveTo>
                <a:lnTo>
                  <a:pt x="5522749" y="0"/>
                </a:lnTo>
                <a:lnTo>
                  <a:pt x="5522749" y="7047591"/>
                </a:lnTo>
                <a:lnTo>
                  <a:pt x="0" y="704759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1955865" y="5128728"/>
            <a:ext cx="4637582" cy="4114800"/>
          </a:xfrm>
          <a:custGeom>
            <a:avLst/>
            <a:gdLst/>
            <a:ahLst/>
            <a:cxnLst/>
            <a:rect r="r" b="b" t="t" l="l"/>
            <a:pathLst>
              <a:path h="4114800" w="4637582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071668" y="1963445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28700" y="3281372"/>
            <a:ext cx="11518422" cy="31898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5"/>
              </a:lnSpc>
            </a:pPr>
            <a:r>
              <a:rPr lang="en-US" sz="5948" b="true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EVOLUZIONE E REFACTORING DEL FRAMEWORK JUNIT-TO-JMH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80332" y="7776184"/>
            <a:ext cx="5297759" cy="23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6"/>
              </a:lnSpc>
            </a:pPr>
            <a:r>
              <a:rPr lang="en-US" sz="1739" b="true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MICHELE CILLO NF22500124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80332" y="8213120"/>
            <a:ext cx="5297759" cy="23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6"/>
              </a:lnSpc>
            </a:pPr>
            <a:r>
              <a:rPr lang="en-US" sz="1739" b="true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BENITO PIGNA   NF22500110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028700" y="1581126"/>
            <a:ext cx="931601" cy="931601"/>
          </a:xfrm>
          <a:custGeom>
            <a:avLst/>
            <a:gdLst/>
            <a:ahLst/>
            <a:cxnLst/>
            <a:rect r="r" b="b" t="t" l="l"/>
            <a:pathLst>
              <a:path h="931601" w="931601">
                <a:moveTo>
                  <a:pt x="0" y="0"/>
                </a:moveTo>
                <a:lnTo>
                  <a:pt x="931601" y="0"/>
                </a:lnTo>
                <a:lnTo>
                  <a:pt x="931601" y="931601"/>
                </a:lnTo>
                <a:lnTo>
                  <a:pt x="0" y="93160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2623362" y="1505100"/>
            <a:ext cx="1083652" cy="1083652"/>
          </a:xfrm>
          <a:custGeom>
            <a:avLst/>
            <a:gdLst/>
            <a:ahLst/>
            <a:cxnLst/>
            <a:rect r="r" b="b" t="t" l="l"/>
            <a:pathLst>
              <a:path h="1083652" w="1083652">
                <a:moveTo>
                  <a:pt x="0" y="0"/>
                </a:moveTo>
                <a:lnTo>
                  <a:pt x="1083653" y="0"/>
                </a:lnTo>
                <a:lnTo>
                  <a:pt x="1083653" y="1083653"/>
                </a:lnTo>
                <a:lnTo>
                  <a:pt x="0" y="108365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504799" y="-4310074"/>
            <a:ext cx="11706247" cy="11706247"/>
          </a:xfrm>
          <a:custGeom>
            <a:avLst/>
            <a:gdLst/>
            <a:ahLst/>
            <a:cxnLst/>
            <a:rect r="r" b="b" t="t" l="l"/>
            <a:pathLst>
              <a:path h="11706247" w="11706247">
                <a:moveTo>
                  <a:pt x="0" y="0"/>
                </a:moveTo>
                <a:lnTo>
                  <a:pt x="11706248" y="0"/>
                </a:lnTo>
                <a:lnTo>
                  <a:pt x="11706248" y="11706248"/>
                </a:lnTo>
                <a:lnTo>
                  <a:pt x="0" y="117062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447033" y="1373083"/>
            <a:ext cx="6765661" cy="7672399"/>
          </a:xfrm>
          <a:custGeom>
            <a:avLst/>
            <a:gdLst/>
            <a:ahLst/>
            <a:cxnLst/>
            <a:rect r="r" b="b" t="t" l="l"/>
            <a:pathLst>
              <a:path h="7672399" w="6765661">
                <a:moveTo>
                  <a:pt x="0" y="0"/>
                </a:moveTo>
                <a:lnTo>
                  <a:pt x="6765661" y="0"/>
                </a:lnTo>
                <a:lnTo>
                  <a:pt x="6765661" y="7672399"/>
                </a:lnTo>
                <a:lnTo>
                  <a:pt x="0" y="76723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443754" y="1585901"/>
            <a:ext cx="6765661" cy="7672399"/>
          </a:xfrm>
          <a:custGeom>
            <a:avLst/>
            <a:gdLst/>
            <a:ahLst/>
            <a:cxnLst/>
            <a:rect r="r" b="b" t="t" l="l"/>
            <a:pathLst>
              <a:path h="7672399" w="6765661">
                <a:moveTo>
                  <a:pt x="0" y="0"/>
                </a:moveTo>
                <a:lnTo>
                  <a:pt x="6765660" y="0"/>
                </a:lnTo>
                <a:lnTo>
                  <a:pt x="6765660" y="7672399"/>
                </a:lnTo>
                <a:lnTo>
                  <a:pt x="0" y="76723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-4266984" y="2112846"/>
            <a:ext cx="6994113" cy="8229600"/>
          </a:xfrm>
          <a:custGeom>
            <a:avLst/>
            <a:gdLst/>
            <a:ahLst/>
            <a:cxnLst/>
            <a:rect r="r" b="b" t="t" l="l"/>
            <a:pathLst>
              <a:path h="8229600" w="6994113">
                <a:moveTo>
                  <a:pt x="0" y="0"/>
                </a:moveTo>
                <a:lnTo>
                  <a:pt x="6994113" y="0"/>
                </a:lnTo>
                <a:lnTo>
                  <a:pt x="699411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203256" y="5592480"/>
            <a:ext cx="3891704" cy="3453002"/>
          </a:xfrm>
          <a:custGeom>
            <a:avLst/>
            <a:gdLst/>
            <a:ahLst/>
            <a:cxnLst/>
            <a:rect r="r" b="b" t="t" l="l"/>
            <a:pathLst>
              <a:path h="3453002" w="3891704">
                <a:moveTo>
                  <a:pt x="0" y="0"/>
                </a:moveTo>
                <a:lnTo>
                  <a:pt x="3891703" y="0"/>
                </a:lnTo>
                <a:lnTo>
                  <a:pt x="3891703" y="3453002"/>
                </a:lnTo>
                <a:lnTo>
                  <a:pt x="0" y="345300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7130010" y="5422101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95833" y="182815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967553" y="91408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3"/>
                </a:lnTo>
                <a:lnTo>
                  <a:pt x="0" y="12357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2761062" y="3299314"/>
            <a:ext cx="6131043" cy="575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8"/>
              </a:lnSpc>
            </a:pPr>
            <a:r>
              <a:rPr lang="en-US" b="true" sz="4025" spc="-44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INTRODUZIONE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2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539200" y="3053045"/>
            <a:ext cx="6581326" cy="1038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48124" indent="-274062" lvl="1">
              <a:lnSpc>
                <a:spcPts val="2665"/>
              </a:lnSpc>
              <a:buFont typeface="Arial"/>
              <a:buChar char="•"/>
            </a:pPr>
            <a:r>
              <a:rPr lang="en-US" sz="2538" spc="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</a:t>
            </a:r>
            <a:r>
              <a:rPr lang="en-US" sz="2538" spc="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u2jmh è un tool Java che converte automaticamente classi di test JUnit 4 in classi di benchmark JMH.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539200" y="4855284"/>
            <a:ext cx="6767759" cy="1372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48387" indent="-274193" lvl="1">
              <a:lnSpc>
                <a:spcPts val="2667"/>
              </a:lnSpc>
              <a:buFont typeface="Arial"/>
              <a:buChar char="•"/>
            </a:pPr>
            <a:r>
              <a:rPr lang="en-US" sz="2540" spc="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L'obiettivo originale del tool è facilitare la creazione di microbenchmark per le prestazioni partendo da test unitari.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539200" y="7115091"/>
            <a:ext cx="6435250" cy="1372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48387" indent="-274193" lvl="1">
              <a:lnSpc>
                <a:spcPts val="2667"/>
              </a:lnSpc>
              <a:buFont typeface="Arial"/>
              <a:buChar char="•"/>
            </a:pPr>
            <a:r>
              <a:rPr lang="en-US" sz="2540" spc="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Colma il gap tra il Functional Testing (correttezza del codice) e il Performance Testing (efficienza e misurazione).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333483" y="-5083807"/>
            <a:ext cx="11706247" cy="11706247"/>
          </a:xfrm>
          <a:custGeom>
            <a:avLst/>
            <a:gdLst/>
            <a:ahLst/>
            <a:cxnLst/>
            <a:rect r="r" b="b" t="t" l="l"/>
            <a:pathLst>
              <a:path h="11706247" w="11706247">
                <a:moveTo>
                  <a:pt x="0" y="0"/>
                </a:moveTo>
                <a:lnTo>
                  <a:pt x="11706247" y="0"/>
                </a:lnTo>
                <a:lnTo>
                  <a:pt x="11706247" y="11706247"/>
                </a:lnTo>
                <a:lnTo>
                  <a:pt x="0" y="117062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783619" y="1543050"/>
            <a:ext cx="10611757" cy="9782111"/>
          </a:xfrm>
          <a:custGeom>
            <a:avLst/>
            <a:gdLst/>
            <a:ahLst/>
            <a:cxnLst/>
            <a:rect r="r" b="b" t="t" l="l"/>
            <a:pathLst>
              <a:path h="9782111" w="10611757">
                <a:moveTo>
                  <a:pt x="0" y="0"/>
                </a:moveTo>
                <a:lnTo>
                  <a:pt x="10611758" y="0"/>
                </a:lnTo>
                <a:lnTo>
                  <a:pt x="10611758" y="9782111"/>
                </a:lnTo>
                <a:lnTo>
                  <a:pt x="0" y="97821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-4062196" y="1351079"/>
            <a:ext cx="6994113" cy="8229600"/>
          </a:xfrm>
          <a:custGeom>
            <a:avLst/>
            <a:gdLst/>
            <a:ahLst/>
            <a:cxnLst/>
            <a:rect r="r" b="b" t="t" l="l"/>
            <a:pathLst>
              <a:path h="8229600" w="6994113">
                <a:moveTo>
                  <a:pt x="0" y="0"/>
                </a:moveTo>
                <a:lnTo>
                  <a:pt x="6994113" y="0"/>
                </a:lnTo>
                <a:lnTo>
                  <a:pt x="699411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714696" y="2463304"/>
            <a:ext cx="4950393" cy="7521315"/>
          </a:xfrm>
          <a:custGeom>
            <a:avLst/>
            <a:gdLst/>
            <a:ahLst/>
            <a:cxnLst/>
            <a:rect r="r" b="b" t="t" l="l"/>
            <a:pathLst>
              <a:path h="7521315" w="4950393">
                <a:moveTo>
                  <a:pt x="0" y="0"/>
                </a:moveTo>
                <a:lnTo>
                  <a:pt x="4950393" y="0"/>
                </a:lnTo>
                <a:lnTo>
                  <a:pt x="4950393" y="7521315"/>
                </a:lnTo>
                <a:lnTo>
                  <a:pt x="0" y="752131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23980" y="2655858"/>
            <a:ext cx="3665913" cy="4114800"/>
          </a:xfrm>
          <a:custGeom>
            <a:avLst/>
            <a:gdLst/>
            <a:ahLst/>
            <a:cxnLst/>
            <a:rect r="r" b="b" t="t" l="l"/>
            <a:pathLst>
              <a:path h="4114800" w="3665913">
                <a:moveTo>
                  <a:pt x="0" y="0"/>
                </a:moveTo>
                <a:lnTo>
                  <a:pt x="3665912" y="0"/>
                </a:lnTo>
                <a:lnTo>
                  <a:pt x="366591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3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582912" y="2362109"/>
            <a:ext cx="9401747" cy="654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78"/>
              </a:lnSpc>
            </a:pPr>
            <a:r>
              <a:rPr lang="en-US" sz="4741" b="true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LE CHANGE REQUEST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600950" y="3277082"/>
            <a:ext cx="8114095" cy="46480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56"/>
              </a:lnSpc>
            </a:pPr>
            <a:r>
              <a:rPr lang="en-US" sz="2339" spc="7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Abbiamo pianificato tre interventi mirati:</a:t>
            </a:r>
          </a:p>
          <a:p>
            <a:pPr algn="just">
              <a:lnSpc>
                <a:spcPts val="2456"/>
              </a:lnSpc>
            </a:pPr>
          </a:p>
          <a:p>
            <a:pPr algn="just" marL="505164" indent="-252582" lvl="1">
              <a:lnSpc>
                <a:spcPts val="2456"/>
              </a:lnSpc>
              <a:buFont typeface="Arial"/>
              <a:buChar char="•"/>
            </a:pPr>
            <a:r>
              <a:rPr lang="en-US" sz="2339" spc="79">
                <a:solidFill>
                  <a:srgbClr val="FFDE59"/>
                </a:solidFill>
                <a:latin typeface="Poppins"/>
                <a:ea typeface="Poppins"/>
                <a:cs typeface="Poppins"/>
                <a:sym typeface="Poppins"/>
              </a:rPr>
              <a:t>CR01 (Manutenzione Evolutiva):</a:t>
            </a:r>
            <a:r>
              <a:rPr lang="en-US" sz="2339" spc="7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Supporto a JUnit 5 (riconoscimento e conversione delle nuove annotazioni).</a:t>
            </a:r>
          </a:p>
          <a:p>
            <a:pPr algn="just">
              <a:lnSpc>
                <a:spcPts val="2456"/>
              </a:lnSpc>
            </a:pPr>
          </a:p>
          <a:p>
            <a:pPr algn="just">
              <a:lnSpc>
                <a:spcPts val="2456"/>
              </a:lnSpc>
            </a:pPr>
          </a:p>
          <a:p>
            <a:pPr algn="just" marL="505164" indent="-252582" lvl="1">
              <a:lnSpc>
                <a:spcPts val="2456"/>
              </a:lnSpc>
              <a:buFont typeface="Arial"/>
              <a:buChar char="•"/>
            </a:pPr>
            <a:r>
              <a:rPr lang="en-US" sz="2339" spc="79">
                <a:solidFill>
                  <a:srgbClr val="FFDE59"/>
                </a:solidFill>
                <a:latin typeface="Poppins"/>
                <a:ea typeface="Poppins"/>
                <a:cs typeface="Poppins"/>
                <a:sym typeface="Poppins"/>
              </a:rPr>
              <a:t>CR02 (Manutenzione Adattiva):</a:t>
            </a:r>
            <a:r>
              <a:rPr lang="en-US" sz="2339" spc="7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Integrazione Project AMBER. Aggiornamento del parser per supportare il livello linguistico Java 17.</a:t>
            </a:r>
          </a:p>
          <a:p>
            <a:pPr algn="just">
              <a:lnSpc>
                <a:spcPts val="2456"/>
              </a:lnSpc>
            </a:pPr>
          </a:p>
          <a:p>
            <a:pPr algn="just">
              <a:lnSpc>
                <a:spcPts val="2456"/>
              </a:lnSpc>
            </a:pPr>
          </a:p>
          <a:p>
            <a:pPr algn="just" marL="505164" indent="-252582" lvl="1">
              <a:lnSpc>
                <a:spcPts val="2456"/>
              </a:lnSpc>
              <a:buFont typeface="Arial"/>
              <a:buChar char="•"/>
            </a:pPr>
            <a:r>
              <a:rPr lang="en-US" sz="2339" spc="79">
                <a:solidFill>
                  <a:srgbClr val="FFDE59"/>
                </a:solidFill>
                <a:latin typeface="Poppins"/>
                <a:ea typeface="Poppins"/>
                <a:cs typeface="Poppins"/>
                <a:sym typeface="Poppins"/>
              </a:rPr>
              <a:t>CR03 (Manutenzione Perfettiva)</a:t>
            </a:r>
            <a:r>
              <a:rPr lang="en-US" sz="2339" spc="7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: Controllo di granularità sui metodi scelti dall'utente.</a:t>
            </a:r>
          </a:p>
          <a:p>
            <a:pPr algn="just">
              <a:lnSpc>
                <a:spcPts val="2771"/>
              </a:lnSpc>
              <a:spcBef>
                <a:spcPct val="0"/>
              </a:spcBef>
            </a:pP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6984659" y="653111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3"/>
                </a:lnTo>
                <a:lnTo>
                  <a:pt x="0" y="54928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325534" y="242872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987817" y="15146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3"/>
                </a:lnTo>
                <a:lnTo>
                  <a:pt x="0" y="123570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1522127" y="2012941"/>
            <a:ext cx="7778462" cy="8524342"/>
          </a:xfrm>
          <a:custGeom>
            <a:avLst/>
            <a:gdLst/>
            <a:ahLst/>
            <a:cxnLst/>
            <a:rect r="r" b="b" t="t" l="l"/>
            <a:pathLst>
              <a:path h="8524342" w="7778462">
                <a:moveTo>
                  <a:pt x="0" y="0"/>
                </a:moveTo>
                <a:lnTo>
                  <a:pt x="7778462" y="0"/>
                </a:lnTo>
                <a:lnTo>
                  <a:pt x="7778462" y="8524342"/>
                </a:lnTo>
                <a:lnTo>
                  <a:pt x="0" y="85243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1914301" y="562489"/>
            <a:ext cx="6994113" cy="8229600"/>
          </a:xfrm>
          <a:custGeom>
            <a:avLst/>
            <a:gdLst/>
            <a:ahLst/>
            <a:cxnLst/>
            <a:rect r="r" b="b" t="t" l="l"/>
            <a:pathLst>
              <a:path h="8229600" w="6994113">
                <a:moveTo>
                  <a:pt x="0" y="0"/>
                </a:moveTo>
                <a:lnTo>
                  <a:pt x="6994113" y="0"/>
                </a:lnTo>
                <a:lnTo>
                  <a:pt x="699411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419155" y="3485928"/>
            <a:ext cx="3320977" cy="2946612"/>
          </a:xfrm>
          <a:custGeom>
            <a:avLst/>
            <a:gdLst/>
            <a:ahLst/>
            <a:cxnLst/>
            <a:rect r="r" b="b" t="t" l="l"/>
            <a:pathLst>
              <a:path h="2946612" w="3320977">
                <a:moveTo>
                  <a:pt x="0" y="0"/>
                </a:moveTo>
                <a:lnTo>
                  <a:pt x="3320977" y="0"/>
                </a:lnTo>
                <a:lnTo>
                  <a:pt x="3320977" y="2946613"/>
                </a:lnTo>
                <a:lnTo>
                  <a:pt x="0" y="294661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4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930041" y="1700332"/>
            <a:ext cx="7315200" cy="2433967"/>
          </a:xfrm>
          <a:custGeom>
            <a:avLst/>
            <a:gdLst/>
            <a:ahLst/>
            <a:cxnLst/>
            <a:rect r="r" b="b" t="t" l="l"/>
            <a:pathLst>
              <a:path h="2433967" w="7315200">
                <a:moveTo>
                  <a:pt x="0" y="0"/>
                </a:moveTo>
                <a:lnTo>
                  <a:pt x="7315200" y="0"/>
                </a:lnTo>
                <a:lnTo>
                  <a:pt x="7315200" y="2433966"/>
                </a:lnTo>
                <a:lnTo>
                  <a:pt x="0" y="243396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653802" y="2291125"/>
            <a:ext cx="5867677" cy="13000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03"/>
              </a:lnSpc>
            </a:pPr>
            <a:r>
              <a:rPr lang="en-US" b="true" sz="32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IL SISTEMA ORIGINALE  E LE SUE LIMITAZIONI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60683" y="4305748"/>
            <a:ext cx="9370689" cy="4727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61969" indent="-230984" lvl="1">
              <a:lnSpc>
                <a:spcPts val="2246"/>
              </a:lnSpc>
              <a:buFont typeface="Arial"/>
              <a:buChar char="•"/>
            </a:pPr>
            <a:r>
              <a:rPr lang="en-US" sz="2139" spc="72">
                <a:solidFill>
                  <a:srgbClr val="FFDE59"/>
                </a:solidFill>
                <a:latin typeface="Poppins"/>
                <a:ea typeface="Poppins"/>
                <a:cs typeface="Poppins"/>
                <a:sym typeface="Poppins"/>
              </a:rPr>
              <a:t>Forte Accoppiamento Architetturale: </a:t>
            </a:r>
            <a:r>
              <a:rPr lang="en-US" sz="2139" spc="7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Supporto esclusivo al framework legacy JUnit 4. Nessu</a:t>
            </a:r>
            <a:r>
              <a:rPr lang="en-US" sz="2139" spc="7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na compatibilità con l'architettura modulare di JUnit 5 </a:t>
            </a:r>
          </a:p>
          <a:p>
            <a:pPr algn="l">
              <a:lnSpc>
                <a:spcPts val="2246"/>
              </a:lnSpc>
            </a:pPr>
          </a:p>
          <a:p>
            <a:pPr algn="l" marL="461969" indent="-230984" lvl="1">
              <a:lnSpc>
                <a:spcPts val="2246"/>
              </a:lnSpc>
              <a:buFont typeface="Arial"/>
              <a:buChar char="•"/>
            </a:pPr>
            <a:r>
              <a:rPr lang="en-US" sz="2139" spc="72">
                <a:solidFill>
                  <a:srgbClr val="FFDE59"/>
                </a:solidFill>
                <a:latin typeface="Poppins"/>
                <a:ea typeface="Poppins"/>
                <a:cs typeface="Poppins"/>
                <a:sym typeface="Poppins"/>
              </a:rPr>
              <a:t>Obsolescenza Sintattica dell'AST: </a:t>
            </a:r>
            <a:r>
              <a:rPr lang="en-US" sz="2139" spc="7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Il parser originale generava errori imbattendosi in codice Java moderno </a:t>
            </a:r>
          </a:p>
          <a:p>
            <a:pPr algn="l">
              <a:lnSpc>
                <a:spcPts val="2246"/>
              </a:lnSpc>
            </a:pPr>
          </a:p>
          <a:p>
            <a:pPr algn="l" marL="461969" indent="-230984" lvl="1">
              <a:lnSpc>
                <a:spcPts val="2246"/>
              </a:lnSpc>
              <a:buFont typeface="Arial"/>
              <a:buChar char="•"/>
            </a:pPr>
            <a:r>
              <a:rPr lang="en-US" sz="2139" spc="72">
                <a:solidFill>
                  <a:srgbClr val="FFDE59"/>
                </a:solidFill>
                <a:latin typeface="Poppins"/>
                <a:ea typeface="Poppins"/>
                <a:cs typeface="Poppins"/>
                <a:sym typeface="Poppins"/>
              </a:rPr>
              <a:t>Granularità Grossolana</a:t>
            </a:r>
            <a:r>
              <a:rPr lang="en-US" sz="2139" spc="7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: Impossibilità di selezionare singoli metodi di test.</a:t>
            </a:r>
          </a:p>
          <a:p>
            <a:pPr algn="l">
              <a:lnSpc>
                <a:spcPts val="2246"/>
              </a:lnSpc>
            </a:pPr>
          </a:p>
          <a:p>
            <a:pPr algn="l" marL="461969" indent="-230984" lvl="1">
              <a:lnSpc>
                <a:spcPts val="2246"/>
              </a:lnSpc>
              <a:buFont typeface="Arial"/>
              <a:buChar char="•"/>
            </a:pPr>
            <a:r>
              <a:rPr lang="en-US" sz="2139" spc="72">
                <a:solidFill>
                  <a:srgbClr val="FFDE59"/>
                </a:solidFill>
                <a:latin typeface="Poppins"/>
                <a:ea typeface="Poppins"/>
                <a:cs typeface="Poppins"/>
                <a:sym typeface="Poppins"/>
              </a:rPr>
              <a:t>Spreco di Risorse Computazionali:</a:t>
            </a:r>
            <a:r>
              <a:rPr lang="en-US" sz="2139" spc="7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Eseguire benchmark JMH su test irrilevanti dilatava enormemente i tempi di esecuzione e l'uso di CPU/RAM.</a:t>
            </a:r>
          </a:p>
          <a:p>
            <a:pPr algn="l">
              <a:lnSpc>
                <a:spcPts val="2246"/>
              </a:lnSpc>
            </a:pPr>
          </a:p>
          <a:p>
            <a:pPr algn="l" marL="461969" indent="-230984" lvl="1">
              <a:lnSpc>
                <a:spcPts val="2246"/>
              </a:lnSpc>
              <a:buFont typeface="Arial"/>
              <a:buChar char="•"/>
            </a:pPr>
            <a:r>
              <a:rPr lang="en-US" sz="2139" spc="72">
                <a:solidFill>
                  <a:srgbClr val="FFDE59"/>
                </a:solidFill>
                <a:latin typeface="Poppins"/>
                <a:ea typeface="Poppins"/>
                <a:cs typeface="Poppins"/>
                <a:sym typeface="Poppins"/>
              </a:rPr>
              <a:t>Rischi di Data Loss</a:t>
            </a:r>
            <a:r>
              <a:rPr lang="en-US" sz="2139" spc="7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: Assenza di politiche di Conflict Resolution per la sovrascrittura sicura dei file generati.</a:t>
            </a:r>
          </a:p>
          <a:p>
            <a:pPr algn="just">
              <a:lnSpc>
                <a:spcPts val="2246"/>
              </a:lnSpc>
              <a:spcBef>
                <a:spcPct val="0"/>
              </a:spcBef>
            </a:pP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260683" y="160116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010516" y="68708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4"/>
                </a:lnTo>
                <a:lnTo>
                  <a:pt x="0" y="123570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6710018" y="287848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140719" y="6566340"/>
            <a:ext cx="3814194" cy="748374"/>
            <a:chOff x="0" y="0"/>
            <a:chExt cx="1004561" cy="19710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04561" cy="197103"/>
            </a:xfrm>
            <a:custGeom>
              <a:avLst/>
              <a:gdLst/>
              <a:ahLst/>
              <a:cxnLst/>
              <a:rect r="r" b="b" t="t" l="l"/>
              <a:pathLst>
                <a:path h="197103" w="1004561">
                  <a:moveTo>
                    <a:pt x="50744" y="0"/>
                  </a:moveTo>
                  <a:lnTo>
                    <a:pt x="953817" y="0"/>
                  </a:lnTo>
                  <a:cubicBezTo>
                    <a:pt x="967275" y="0"/>
                    <a:pt x="980182" y="5346"/>
                    <a:pt x="989699" y="14863"/>
                  </a:cubicBezTo>
                  <a:cubicBezTo>
                    <a:pt x="999215" y="24379"/>
                    <a:pt x="1004561" y="37286"/>
                    <a:pt x="1004561" y="50744"/>
                  </a:cubicBezTo>
                  <a:lnTo>
                    <a:pt x="1004561" y="146359"/>
                  </a:lnTo>
                  <a:cubicBezTo>
                    <a:pt x="1004561" y="159817"/>
                    <a:pt x="999215" y="172724"/>
                    <a:pt x="989699" y="182240"/>
                  </a:cubicBezTo>
                  <a:cubicBezTo>
                    <a:pt x="980182" y="191756"/>
                    <a:pt x="967275" y="197103"/>
                    <a:pt x="953817" y="197103"/>
                  </a:cubicBezTo>
                  <a:lnTo>
                    <a:pt x="50744" y="197103"/>
                  </a:lnTo>
                  <a:cubicBezTo>
                    <a:pt x="22719" y="197103"/>
                    <a:pt x="0" y="174384"/>
                    <a:pt x="0" y="146359"/>
                  </a:cubicBezTo>
                  <a:lnTo>
                    <a:pt x="0" y="50744"/>
                  </a:lnTo>
                  <a:cubicBezTo>
                    <a:pt x="0" y="37286"/>
                    <a:pt x="5346" y="24379"/>
                    <a:pt x="14863" y="14863"/>
                  </a:cubicBezTo>
                  <a:cubicBezTo>
                    <a:pt x="24379" y="5346"/>
                    <a:pt x="37286" y="0"/>
                    <a:pt x="5074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28575"/>
              <a:ext cx="1004561" cy="1685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-1387661" y="7108128"/>
            <a:ext cx="19889989" cy="8313610"/>
          </a:xfrm>
          <a:custGeom>
            <a:avLst/>
            <a:gdLst/>
            <a:ahLst/>
            <a:cxnLst/>
            <a:rect r="r" b="b" t="t" l="l"/>
            <a:pathLst>
              <a:path h="8313610" w="19889989">
                <a:moveTo>
                  <a:pt x="0" y="0"/>
                </a:moveTo>
                <a:lnTo>
                  <a:pt x="19889989" y="0"/>
                </a:lnTo>
                <a:lnTo>
                  <a:pt x="19889989" y="8313610"/>
                </a:lnTo>
                <a:lnTo>
                  <a:pt x="0" y="8313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3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98944" y="2952088"/>
            <a:ext cx="3814194" cy="748374"/>
            <a:chOff x="0" y="0"/>
            <a:chExt cx="1004561" cy="19710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04561" cy="197103"/>
            </a:xfrm>
            <a:custGeom>
              <a:avLst/>
              <a:gdLst/>
              <a:ahLst/>
              <a:cxnLst/>
              <a:rect r="r" b="b" t="t" l="l"/>
              <a:pathLst>
                <a:path h="197103" w="1004561">
                  <a:moveTo>
                    <a:pt x="50744" y="0"/>
                  </a:moveTo>
                  <a:lnTo>
                    <a:pt x="953817" y="0"/>
                  </a:lnTo>
                  <a:cubicBezTo>
                    <a:pt x="967275" y="0"/>
                    <a:pt x="980182" y="5346"/>
                    <a:pt x="989699" y="14863"/>
                  </a:cubicBezTo>
                  <a:cubicBezTo>
                    <a:pt x="999215" y="24379"/>
                    <a:pt x="1004561" y="37286"/>
                    <a:pt x="1004561" y="50744"/>
                  </a:cubicBezTo>
                  <a:lnTo>
                    <a:pt x="1004561" y="146359"/>
                  </a:lnTo>
                  <a:cubicBezTo>
                    <a:pt x="1004561" y="159817"/>
                    <a:pt x="999215" y="172724"/>
                    <a:pt x="989699" y="182240"/>
                  </a:cubicBezTo>
                  <a:cubicBezTo>
                    <a:pt x="980182" y="191756"/>
                    <a:pt x="967275" y="197103"/>
                    <a:pt x="953817" y="197103"/>
                  </a:cubicBezTo>
                  <a:lnTo>
                    <a:pt x="50744" y="197103"/>
                  </a:lnTo>
                  <a:cubicBezTo>
                    <a:pt x="22719" y="197103"/>
                    <a:pt x="0" y="174384"/>
                    <a:pt x="0" y="146359"/>
                  </a:cubicBezTo>
                  <a:lnTo>
                    <a:pt x="0" y="50744"/>
                  </a:lnTo>
                  <a:cubicBezTo>
                    <a:pt x="0" y="37286"/>
                    <a:pt x="5346" y="24379"/>
                    <a:pt x="14863" y="14863"/>
                  </a:cubicBezTo>
                  <a:cubicBezTo>
                    <a:pt x="24379" y="5346"/>
                    <a:pt x="37286" y="0"/>
                    <a:pt x="5074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28575"/>
              <a:ext cx="1004561" cy="1685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4533955" y="2952088"/>
            <a:ext cx="3814194" cy="748374"/>
            <a:chOff x="0" y="0"/>
            <a:chExt cx="1004561" cy="19710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04561" cy="197103"/>
            </a:xfrm>
            <a:custGeom>
              <a:avLst/>
              <a:gdLst/>
              <a:ahLst/>
              <a:cxnLst/>
              <a:rect r="r" b="b" t="t" l="l"/>
              <a:pathLst>
                <a:path h="197103" w="1004561">
                  <a:moveTo>
                    <a:pt x="50744" y="0"/>
                  </a:moveTo>
                  <a:lnTo>
                    <a:pt x="953817" y="0"/>
                  </a:lnTo>
                  <a:cubicBezTo>
                    <a:pt x="967275" y="0"/>
                    <a:pt x="980182" y="5346"/>
                    <a:pt x="989699" y="14863"/>
                  </a:cubicBezTo>
                  <a:cubicBezTo>
                    <a:pt x="999215" y="24379"/>
                    <a:pt x="1004561" y="37286"/>
                    <a:pt x="1004561" y="50744"/>
                  </a:cubicBezTo>
                  <a:lnTo>
                    <a:pt x="1004561" y="146359"/>
                  </a:lnTo>
                  <a:cubicBezTo>
                    <a:pt x="1004561" y="159817"/>
                    <a:pt x="999215" y="172724"/>
                    <a:pt x="989699" y="182240"/>
                  </a:cubicBezTo>
                  <a:cubicBezTo>
                    <a:pt x="980182" y="191756"/>
                    <a:pt x="967275" y="197103"/>
                    <a:pt x="953817" y="197103"/>
                  </a:cubicBezTo>
                  <a:lnTo>
                    <a:pt x="50744" y="197103"/>
                  </a:lnTo>
                  <a:cubicBezTo>
                    <a:pt x="22719" y="197103"/>
                    <a:pt x="0" y="174384"/>
                    <a:pt x="0" y="146359"/>
                  </a:cubicBezTo>
                  <a:lnTo>
                    <a:pt x="0" y="50744"/>
                  </a:lnTo>
                  <a:cubicBezTo>
                    <a:pt x="0" y="37286"/>
                    <a:pt x="5346" y="24379"/>
                    <a:pt x="14863" y="14863"/>
                  </a:cubicBezTo>
                  <a:cubicBezTo>
                    <a:pt x="24379" y="5346"/>
                    <a:pt x="37286" y="0"/>
                    <a:pt x="5074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28575"/>
              <a:ext cx="1004561" cy="1685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668965" y="2989286"/>
            <a:ext cx="4199461" cy="748374"/>
            <a:chOff x="0" y="0"/>
            <a:chExt cx="1106031" cy="19710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06031" cy="197103"/>
            </a:xfrm>
            <a:custGeom>
              <a:avLst/>
              <a:gdLst/>
              <a:ahLst/>
              <a:cxnLst/>
              <a:rect r="r" b="b" t="t" l="l"/>
              <a:pathLst>
                <a:path h="197103" w="1106031">
                  <a:moveTo>
                    <a:pt x="46089" y="0"/>
                  </a:moveTo>
                  <a:lnTo>
                    <a:pt x="1059942" y="0"/>
                  </a:lnTo>
                  <a:cubicBezTo>
                    <a:pt x="1085396" y="0"/>
                    <a:pt x="1106031" y="20635"/>
                    <a:pt x="1106031" y="46089"/>
                  </a:cubicBezTo>
                  <a:lnTo>
                    <a:pt x="1106031" y="151014"/>
                  </a:lnTo>
                  <a:cubicBezTo>
                    <a:pt x="1106031" y="176468"/>
                    <a:pt x="1085396" y="197103"/>
                    <a:pt x="1059942" y="197103"/>
                  </a:cubicBezTo>
                  <a:lnTo>
                    <a:pt x="46089" y="197103"/>
                  </a:lnTo>
                  <a:cubicBezTo>
                    <a:pt x="20635" y="197103"/>
                    <a:pt x="0" y="176468"/>
                    <a:pt x="0" y="151014"/>
                  </a:cubicBezTo>
                  <a:lnTo>
                    <a:pt x="0" y="46089"/>
                  </a:lnTo>
                  <a:cubicBezTo>
                    <a:pt x="0" y="20635"/>
                    <a:pt x="20635" y="0"/>
                    <a:pt x="4608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28575"/>
              <a:ext cx="1106031" cy="1685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5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554761" y="259150"/>
            <a:ext cx="10793017" cy="1909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METODOLOGIA DI IMPACT ANALYSIS</a:t>
            </a:r>
          </a:p>
          <a:p>
            <a:pPr algn="ctr">
              <a:lnSpc>
                <a:spcPts val="4978"/>
              </a:lnSpc>
            </a:pPr>
          </a:p>
        </p:txBody>
      </p:sp>
      <p:sp>
        <p:nvSpPr>
          <p:cNvPr name="TextBox 23" id="23"/>
          <p:cNvSpPr txBox="true"/>
          <p:nvPr/>
        </p:nvSpPr>
        <p:spPr>
          <a:xfrm rot="0">
            <a:off x="398944" y="4186237"/>
            <a:ext cx="4348950" cy="23801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6"/>
              </a:lnSpc>
              <a:spcBef>
                <a:spcPct val="0"/>
              </a:spcBef>
            </a:pPr>
            <a:r>
              <a:rPr lang="en-US" sz="2939" spc="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Insieme delle componenti direttamente (o inizialmente) coinvolte dalla Change Request.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52151" y="3123014"/>
            <a:ext cx="3038854" cy="416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981"/>
              </a:lnSpc>
              <a:spcBef>
                <a:spcPct val="0"/>
              </a:spcBef>
            </a:pPr>
            <a:r>
              <a:rPr lang="en-US" b="true" sz="2839" spc="96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      SIS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580905" y="4186237"/>
            <a:ext cx="4563095" cy="1989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6"/>
              </a:lnSpc>
              <a:spcBef>
                <a:spcPct val="0"/>
              </a:spcBef>
            </a:pPr>
            <a:r>
              <a:rPr lang="en-US" sz="2939" spc="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Insieme delle componenti potenzialmente colpite a livello indiretto.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921625" y="3123014"/>
            <a:ext cx="3038854" cy="416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981"/>
              </a:lnSpc>
              <a:spcBef>
                <a:spcPct val="0"/>
              </a:spcBef>
            </a:pPr>
            <a:r>
              <a:rPr lang="en-US" b="true" sz="2839" spc="96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     CIS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729056" y="4158236"/>
            <a:ext cx="4563095" cy="1989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6"/>
              </a:lnSpc>
              <a:spcBef>
                <a:spcPct val="0"/>
              </a:spcBef>
            </a:pPr>
            <a:r>
              <a:rPr lang="en-US" sz="2939" spc="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Insieme delle componenti realmente modificate durante l'implementazione.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993811" y="3123014"/>
            <a:ext cx="3552803" cy="416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981"/>
              </a:lnSpc>
              <a:spcBef>
                <a:spcPct val="0"/>
              </a:spcBef>
            </a:pPr>
            <a:r>
              <a:rPr lang="en-US" b="true" sz="2839" spc="96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        AIS</a:t>
            </a:r>
          </a:p>
        </p:txBody>
      </p:sp>
      <p:sp>
        <p:nvSpPr>
          <p:cNvPr name="Freeform 29" id="29"/>
          <p:cNvSpPr/>
          <p:nvPr/>
        </p:nvSpPr>
        <p:spPr>
          <a:xfrm flipH="false" flipV="true" rot="0">
            <a:off x="13292151" y="-2989286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2"/>
                </a:moveTo>
                <a:lnTo>
                  <a:pt x="5081025" y="5978572"/>
                </a:lnTo>
                <a:lnTo>
                  <a:pt x="5081025" y="0"/>
                </a:lnTo>
                <a:lnTo>
                  <a:pt x="0" y="0"/>
                </a:lnTo>
                <a:lnTo>
                  <a:pt x="0" y="5978572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999962" y="15146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3"/>
                </a:lnTo>
                <a:lnTo>
                  <a:pt x="0" y="12357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358594" y="242872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3554761" y="1861670"/>
            <a:ext cx="10986110" cy="623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1"/>
              </a:lnSpc>
              <a:spcBef>
                <a:spcPct val="0"/>
              </a:spcBef>
            </a:pPr>
            <a:r>
              <a:rPr lang="en-US" sz="2239" spc="7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Prima di modificare il codice, abbiamo effettuato un'analisi statica e costruito Call Graph e Matrici di raggiungibilità.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3192277" y="2952088"/>
            <a:ext cx="4199461" cy="748374"/>
            <a:chOff x="0" y="0"/>
            <a:chExt cx="1106031" cy="19710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106031" cy="197103"/>
            </a:xfrm>
            <a:custGeom>
              <a:avLst/>
              <a:gdLst/>
              <a:ahLst/>
              <a:cxnLst/>
              <a:rect r="r" b="b" t="t" l="l"/>
              <a:pathLst>
                <a:path h="197103" w="1106031">
                  <a:moveTo>
                    <a:pt x="46089" y="0"/>
                  </a:moveTo>
                  <a:lnTo>
                    <a:pt x="1059942" y="0"/>
                  </a:lnTo>
                  <a:cubicBezTo>
                    <a:pt x="1085396" y="0"/>
                    <a:pt x="1106031" y="20635"/>
                    <a:pt x="1106031" y="46089"/>
                  </a:cubicBezTo>
                  <a:lnTo>
                    <a:pt x="1106031" y="151014"/>
                  </a:lnTo>
                  <a:cubicBezTo>
                    <a:pt x="1106031" y="176468"/>
                    <a:pt x="1085396" y="197103"/>
                    <a:pt x="1059942" y="197103"/>
                  </a:cubicBezTo>
                  <a:lnTo>
                    <a:pt x="46089" y="197103"/>
                  </a:lnTo>
                  <a:cubicBezTo>
                    <a:pt x="20635" y="197103"/>
                    <a:pt x="0" y="176468"/>
                    <a:pt x="0" y="151014"/>
                  </a:cubicBezTo>
                  <a:lnTo>
                    <a:pt x="0" y="46089"/>
                  </a:lnTo>
                  <a:cubicBezTo>
                    <a:pt x="0" y="20635"/>
                    <a:pt x="20635" y="0"/>
                    <a:pt x="4608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28575"/>
              <a:ext cx="1106031" cy="1685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3515606" y="3123014"/>
            <a:ext cx="3552803" cy="416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981"/>
              </a:lnSpc>
              <a:spcBef>
                <a:spcPct val="0"/>
              </a:spcBef>
            </a:pPr>
            <a:r>
              <a:rPr lang="en-US" b="true" sz="2839" spc="96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         DIS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292151" y="4186237"/>
            <a:ext cx="4563095" cy="1599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6"/>
              </a:lnSpc>
              <a:spcBef>
                <a:spcPct val="0"/>
              </a:spcBef>
            </a:pPr>
            <a:r>
              <a:rPr lang="en-US" sz="2939" spc="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Componenti non previste inizialmente ma risultate impattate in corso d'opera.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557334" y="6737266"/>
            <a:ext cx="3038854" cy="416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981"/>
              </a:lnSpc>
              <a:spcBef>
                <a:spcPct val="0"/>
              </a:spcBef>
            </a:pPr>
            <a:r>
              <a:rPr lang="en-US" b="true" sz="2839" spc="96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FIPS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033093" y="7572062"/>
            <a:ext cx="4563095" cy="1208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6"/>
              </a:lnSpc>
              <a:spcBef>
                <a:spcPct val="0"/>
              </a:spcBef>
            </a:pPr>
            <a:r>
              <a:rPr lang="en-US" sz="2939" spc="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Insieme dei falsi positivi (Elementi non modificati)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430107" y="8767636"/>
            <a:ext cx="7315200" cy="2433967"/>
          </a:xfrm>
          <a:custGeom>
            <a:avLst/>
            <a:gdLst/>
            <a:ahLst/>
            <a:cxnLst/>
            <a:rect r="r" b="b" t="t" l="l"/>
            <a:pathLst>
              <a:path h="2433967" w="7315200">
                <a:moveTo>
                  <a:pt x="0" y="0"/>
                </a:moveTo>
                <a:lnTo>
                  <a:pt x="7315200" y="0"/>
                </a:lnTo>
                <a:lnTo>
                  <a:pt x="7315200" y="2433966"/>
                </a:lnTo>
                <a:lnTo>
                  <a:pt x="0" y="2433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true" rot="0">
            <a:off x="14540508" y="5987408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1"/>
                </a:moveTo>
                <a:lnTo>
                  <a:pt x="5081025" y="5978571"/>
                </a:lnTo>
                <a:lnTo>
                  <a:pt x="5081025" y="0"/>
                </a:lnTo>
                <a:lnTo>
                  <a:pt x="0" y="0"/>
                </a:lnTo>
                <a:lnTo>
                  <a:pt x="0" y="5978571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6128881" y="1028700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868899" y="697895"/>
            <a:ext cx="10793017" cy="2538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CR01 - SUPPORTO A JUNIT 5 (MANUTENZIONE EVOLUTIVA)</a:t>
            </a:r>
          </a:p>
        </p:txBody>
      </p:sp>
      <p:sp>
        <p:nvSpPr>
          <p:cNvPr name="Freeform 13" id="13"/>
          <p:cNvSpPr/>
          <p:nvPr/>
        </p:nvSpPr>
        <p:spPr>
          <a:xfrm flipH="false" flipV="true" rot="0">
            <a:off x="-3709327" y="5778350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1"/>
                </a:moveTo>
                <a:lnTo>
                  <a:pt x="5081025" y="5978571"/>
                </a:lnTo>
                <a:lnTo>
                  <a:pt x="5081025" y="0"/>
                </a:lnTo>
                <a:lnTo>
                  <a:pt x="0" y="0"/>
                </a:lnTo>
                <a:lnTo>
                  <a:pt x="0" y="5978571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7767800" y="4054799"/>
            <a:ext cx="4324746" cy="591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41"/>
              </a:lnSpc>
              <a:spcBef>
                <a:spcPct val="0"/>
              </a:spcBef>
            </a:pPr>
            <a:r>
              <a:rPr lang="en-US" b="true" sz="4039" spc="137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OBIETTIVO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945421" y="5108455"/>
            <a:ext cx="12639973" cy="1358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6"/>
              </a:lnSpc>
              <a:spcBef>
                <a:spcPct val="0"/>
              </a:spcBef>
            </a:pPr>
            <a:r>
              <a:rPr lang="en-US" sz="3330" spc="11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Riconoscere, parsare e convertire le annotazioni dell'architettura JUnit 5 per supportare le annotazioni moderne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2327569" y="15904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4"/>
                </a:lnTo>
                <a:lnTo>
                  <a:pt x="0" y="12357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318810" y="250453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430107" y="8767636"/>
            <a:ext cx="7315200" cy="2433967"/>
          </a:xfrm>
          <a:custGeom>
            <a:avLst/>
            <a:gdLst/>
            <a:ahLst/>
            <a:cxnLst/>
            <a:rect r="r" b="b" t="t" l="l"/>
            <a:pathLst>
              <a:path h="2433967" w="7315200">
                <a:moveTo>
                  <a:pt x="0" y="0"/>
                </a:moveTo>
                <a:lnTo>
                  <a:pt x="7315200" y="0"/>
                </a:lnTo>
                <a:lnTo>
                  <a:pt x="7315200" y="2433966"/>
                </a:lnTo>
                <a:lnTo>
                  <a:pt x="0" y="2433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true" rot="0">
            <a:off x="14540508" y="5987408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1"/>
                </a:moveTo>
                <a:lnTo>
                  <a:pt x="5081025" y="5978571"/>
                </a:lnTo>
                <a:lnTo>
                  <a:pt x="5081025" y="0"/>
                </a:lnTo>
                <a:lnTo>
                  <a:pt x="0" y="0"/>
                </a:lnTo>
                <a:lnTo>
                  <a:pt x="0" y="5978571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6128881" y="1028700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true" rot="0">
            <a:off x="-3709327" y="6611224"/>
            <a:ext cx="4373188" cy="5145698"/>
          </a:xfrm>
          <a:custGeom>
            <a:avLst/>
            <a:gdLst/>
            <a:ahLst/>
            <a:cxnLst/>
            <a:rect r="r" b="b" t="t" l="l"/>
            <a:pathLst>
              <a:path h="5145698" w="4373188">
                <a:moveTo>
                  <a:pt x="0" y="5145697"/>
                </a:moveTo>
                <a:lnTo>
                  <a:pt x="4373188" y="5145697"/>
                </a:lnTo>
                <a:lnTo>
                  <a:pt x="4373188" y="0"/>
                </a:lnTo>
                <a:lnTo>
                  <a:pt x="0" y="0"/>
                </a:lnTo>
                <a:lnTo>
                  <a:pt x="0" y="5145697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327569" y="15904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4"/>
                </a:lnTo>
                <a:lnTo>
                  <a:pt x="0" y="12357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18810" y="250453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745307" y="3031534"/>
            <a:ext cx="5195563" cy="3844717"/>
          </a:xfrm>
          <a:custGeom>
            <a:avLst/>
            <a:gdLst/>
            <a:ahLst/>
            <a:cxnLst/>
            <a:rect r="r" b="b" t="t" l="l"/>
            <a:pathLst>
              <a:path h="3844717" w="5195563">
                <a:moveTo>
                  <a:pt x="0" y="0"/>
                </a:moveTo>
                <a:lnTo>
                  <a:pt x="5195563" y="0"/>
                </a:lnTo>
                <a:lnTo>
                  <a:pt x="5195563" y="3844717"/>
                </a:lnTo>
                <a:lnTo>
                  <a:pt x="0" y="38447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7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283024" y="651038"/>
            <a:ext cx="12534623" cy="652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CR01 - IMPACT ANALYSIS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861565" y="2420990"/>
            <a:ext cx="2816598" cy="4598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96"/>
              </a:lnSpc>
              <a:spcBef>
                <a:spcPct val="0"/>
              </a:spcBef>
            </a:pPr>
            <a:r>
              <a:rPr lang="en-US" b="true" sz="3139" spc="10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CALL GRAPH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458810" y="2598146"/>
            <a:ext cx="11598547" cy="3621223"/>
            <a:chOff x="0" y="0"/>
            <a:chExt cx="3054761" cy="95373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054761" cy="953738"/>
            </a:xfrm>
            <a:custGeom>
              <a:avLst/>
              <a:gdLst/>
              <a:ahLst/>
              <a:cxnLst/>
              <a:rect r="r" b="b" t="t" l="l"/>
              <a:pathLst>
                <a:path h="953738" w="3054761">
                  <a:moveTo>
                    <a:pt x="0" y="0"/>
                  </a:moveTo>
                  <a:lnTo>
                    <a:pt x="3054761" y="0"/>
                  </a:lnTo>
                  <a:lnTo>
                    <a:pt x="3054761" y="953738"/>
                  </a:lnTo>
                  <a:lnTo>
                    <a:pt x="0" y="953738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28575"/>
              <a:ext cx="3054761" cy="9251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458810" y="1939136"/>
            <a:ext cx="12021960" cy="1327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912"/>
              </a:lnSpc>
            </a:pPr>
            <a:r>
              <a:rPr lang="en-US" sz="2774" spc="94">
                <a:solidFill>
                  <a:srgbClr val="FFDE59"/>
                </a:solidFill>
                <a:latin typeface="Poppins"/>
                <a:ea typeface="Poppins"/>
                <a:cs typeface="Poppins"/>
                <a:sym typeface="Poppins"/>
              </a:rPr>
              <a:t>Componenti direttamente coinvolte in questa CR:</a:t>
            </a:r>
          </a:p>
          <a:p>
            <a:pPr algn="just">
              <a:lnSpc>
                <a:spcPts val="2282"/>
              </a:lnSpc>
            </a:pPr>
          </a:p>
          <a:p>
            <a:pPr algn="l">
              <a:lnSpc>
                <a:spcPts val="2282"/>
              </a:lnSpc>
            </a:pPr>
          </a:p>
          <a:p>
            <a:pPr algn="just">
              <a:lnSpc>
                <a:spcPts val="2730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598810" y="2745438"/>
            <a:ext cx="12286497" cy="34608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SIS = {InputClassRepository, NestedBenchmarkSuiteBuilder}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IS = {Converter, InputClassRepository, NestedBenchmarkSuiteBuilder} 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AIS = {Converter, NestedBenchmarkSuiteBuilder, WrapperBenchmarkFactory, build.gradle, class_template, method_template} 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FP</a:t>
            </a: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IS = {InputClassRepository} 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DIS = {WrapperBenchmarkFactory, build.gradle, class_template, method_template}</a:t>
            </a:r>
          </a:p>
          <a:p>
            <a:pPr algn="l">
              <a:lnSpc>
                <a:spcPts val="2278"/>
              </a:lnSpc>
              <a:spcBef>
                <a:spcPct val="0"/>
              </a:spcBef>
            </a:pPr>
          </a:p>
        </p:txBody>
      </p:sp>
      <p:sp>
        <p:nvSpPr>
          <p:cNvPr name="TextBox 23" id="23"/>
          <p:cNvSpPr txBox="true"/>
          <p:nvPr/>
        </p:nvSpPr>
        <p:spPr>
          <a:xfrm rot="0">
            <a:off x="458810" y="5936488"/>
            <a:ext cx="12021960" cy="2121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282"/>
              </a:lnSpc>
            </a:pPr>
          </a:p>
          <a:p>
            <a:pPr algn="just">
              <a:lnSpc>
                <a:spcPts val="2282"/>
              </a:lnSpc>
            </a:pPr>
          </a:p>
          <a:p>
            <a:pPr algn="just" marL="938851" indent="-312950" lvl="2">
              <a:lnSpc>
                <a:spcPts val="2282"/>
              </a:lnSpc>
              <a:buFont typeface="Arial"/>
              <a:buChar char="⚬"/>
            </a:pP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Precision:  |CIS ∩ AIS| / |AIS| ≈0.66</a:t>
            </a:r>
          </a:p>
          <a:p>
            <a:pPr algn="just">
              <a:lnSpc>
                <a:spcPts val="2282"/>
              </a:lnSpc>
            </a:pPr>
          </a:p>
          <a:p>
            <a:pPr algn="just" marL="938851" indent="-312950" lvl="2">
              <a:lnSpc>
                <a:spcPts val="2282"/>
              </a:lnSpc>
              <a:buFont typeface="Arial"/>
              <a:buChar char="⚬"/>
            </a:pP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Rec</a:t>
            </a: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ll:       |CIS ∩ AIS| / |CIS| ≈0.33 </a:t>
            </a:r>
          </a:p>
          <a:p>
            <a:pPr algn="l">
              <a:lnSpc>
                <a:spcPts val="2282"/>
              </a:lnSpc>
            </a:pPr>
          </a:p>
          <a:p>
            <a:pPr algn="just">
              <a:lnSpc>
                <a:spcPts val="273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18810" y="6299583"/>
            <a:ext cx="4632332" cy="3359228"/>
            <a:chOff x="0" y="0"/>
            <a:chExt cx="1220038" cy="88473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038" cy="884735"/>
            </a:xfrm>
            <a:custGeom>
              <a:avLst/>
              <a:gdLst/>
              <a:ahLst/>
              <a:cxnLst/>
              <a:rect r="r" b="b" t="t" l="l"/>
              <a:pathLst>
                <a:path h="884735" w="1220038">
                  <a:moveTo>
                    <a:pt x="0" y="0"/>
                  </a:moveTo>
                  <a:lnTo>
                    <a:pt x="1220038" y="0"/>
                  </a:lnTo>
                  <a:lnTo>
                    <a:pt x="1220038" y="884735"/>
                  </a:lnTo>
                  <a:lnTo>
                    <a:pt x="0" y="884735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28575"/>
              <a:ext cx="1220038" cy="8561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5430107" y="8767636"/>
            <a:ext cx="7315200" cy="2433967"/>
          </a:xfrm>
          <a:custGeom>
            <a:avLst/>
            <a:gdLst/>
            <a:ahLst/>
            <a:cxnLst/>
            <a:rect r="r" b="b" t="t" l="l"/>
            <a:pathLst>
              <a:path h="2433967" w="7315200">
                <a:moveTo>
                  <a:pt x="0" y="0"/>
                </a:moveTo>
                <a:lnTo>
                  <a:pt x="7315200" y="0"/>
                </a:lnTo>
                <a:lnTo>
                  <a:pt x="7315200" y="2433966"/>
                </a:lnTo>
                <a:lnTo>
                  <a:pt x="0" y="2433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8125026" y="4775702"/>
            <a:ext cx="8003855" cy="2106089"/>
            <a:chOff x="0" y="0"/>
            <a:chExt cx="2108011" cy="55469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08011" cy="554690"/>
            </a:xfrm>
            <a:custGeom>
              <a:avLst/>
              <a:gdLst/>
              <a:ahLst/>
              <a:cxnLst/>
              <a:rect r="r" b="b" t="t" l="l"/>
              <a:pathLst>
                <a:path h="554690" w="2108011">
                  <a:moveTo>
                    <a:pt x="0" y="0"/>
                  </a:moveTo>
                  <a:lnTo>
                    <a:pt x="2108011" y="0"/>
                  </a:lnTo>
                  <a:lnTo>
                    <a:pt x="2108011" y="554690"/>
                  </a:lnTo>
                  <a:lnTo>
                    <a:pt x="0" y="554690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28575"/>
              <a:ext cx="2108011" cy="5261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true" rot="0">
            <a:off x="14540508" y="5987408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1"/>
                </a:moveTo>
                <a:lnTo>
                  <a:pt x="5081025" y="5978571"/>
                </a:lnTo>
                <a:lnTo>
                  <a:pt x="5081025" y="0"/>
                </a:lnTo>
                <a:lnTo>
                  <a:pt x="0" y="0"/>
                </a:lnTo>
                <a:lnTo>
                  <a:pt x="0" y="5978571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6128881" y="1028700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3709327" y="6611224"/>
            <a:ext cx="4373188" cy="5145698"/>
          </a:xfrm>
          <a:custGeom>
            <a:avLst/>
            <a:gdLst/>
            <a:ahLst/>
            <a:cxnLst/>
            <a:rect r="r" b="b" t="t" l="l"/>
            <a:pathLst>
              <a:path h="5145698" w="4373188">
                <a:moveTo>
                  <a:pt x="0" y="5145697"/>
                </a:moveTo>
                <a:lnTo>
                  <a:pt x="4373188" y="5145697"/>
                </a:lnTo>
                <a:lnTo>
                  <a:pt x="4373188" y="0"/>
                </a:lnTo>
                <a:lnTo>
                  <a:pt x="0" y="0"/>
                </a:lnTo>
                <a:lnTo>
                  <a:pt x="0" y="5145697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2327569" y="15904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4"/>
                </a:lnTo>
                <a:lnTo>
                  <a:pt x="0" y="12357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318810" y="250453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318810" y="1898487"/>
            <a:ext cx="7282140" cy="4088920"/>
            <a:chOff x="0" y="0"/>
            <a:chExt cx="1917930" cy="107691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17930" cy="1076917"/>
            </a:xfrm>
            <a:custGeom>
              <a:avLst/>
              <a:gdLst/>
              <a:ahLst/>
              <a:cxnLst/>
              <a:rect r="r" b="b" t="t" l="l"/>
              <a:pathLst>
                <a:path h="1076917" w="1917930">
                  <a:moveTo>
                    <a:pt x="0" y="0"/>
                  </a:moveTo>
                  <a:lnTo>
                    <a:pt x="1917930" y="0"/>
                  </a:lnTo>
                  <a:lnTo>
                    <a:pt x="1917930" y="1076917"/>
                  </a:lnTo>
                  <a:lnTo>
                    <a:pt x="0" y="1076917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28575"/>
              <a:ext cx="1917930" cy="10483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112168" y="1986384"/>
            <a:ext cx="9147132" cy="2617868"/>
            <a:chOff x="0" y="0"/>
            <a:chExt cx="2409121" cy="6894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409121" cy="689480"/>
            </a:xfrm>
            <a:custGeom>
              <a:avLst/>
              <a:gdLst/>
              <a:ahLst/>
              <a:cxnLst/>
              <a:rect r="r" b="b" t="t" l="l"/>
              <a:pathLst>
                <a:path h="689480" w="2409121">
                  <a:moveTo>
                    <a:pt x="0" y="0"/>
                  </a:moveTo>
                  <a:lnTo>
                    <a:pt x="2409121" y="0"/>
                  </a:lnTo>
                  <a:lnTo>
                    <a:pt x="2409121" y="689480"/>
                  </a:lnTo>
                  <a:lnTo>
                    <a:pt x="0" y="689480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28575"/>
              <a:ext cx="2409121" cy="66090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8521932" y="2582514"/>
            <a:ext cx="8446749" cy="1826609"/>
          </a:xfrm>
          <a:custGeom>
            <a:avLst/>
            <a:gdLst/>
            <a:ahLst/>
            <a:cxnLst/>
            <a:rect r="r" b="b" t="t" l="l"/>
            <a:pathLst>
              <a:path h="1826609" w="8446749">
                <a:moveTo>
                  <a:pt x="0" y="0"/>
                </a:moveTo>
                <a:lnTo>
                  <a:pt x="8446749" y="0"/>
                </a:lnTo>
                <a:lnTo>
                  <a:pt x="8446749" y="1826609"/>
                </a:lnTo>
                <a:lnTo>
                  <a:pt x="0" y="182660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8521932" y="5426227"/>
            <a:ext cx="7558186" cy="1303288"/>
          </a:xfrm>
          <a:custGeom>
            <a:avLst/>
            <a:gdLst/>
            <a:ahLst/>
            <a:cxnLst/>
            <a:rect r="r" b="b" t="t" l="l"/>
            <a:pathLst>
              <a:path h="1303288" w="7558186">
                <a:moveTo>
                  <a:pt x="0" y="0"/>
                </a:moveTo>
                <a:lnTo>
                  <a:pt x="7558186" y="0"/>
                </a:lnTo>
                <a:lnTo>
                  <a:pt x="7558186" y="1303288"/>
                </a:lnTo>
                <a:lnTo>
                  <a:pt x="0" y="130328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-15986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663861" y="6872390"/>
            <a:ext cx="4116631" cy="2596871"/>
          </a:xfrm>
          <a:custGeom>
            <a:avLst/>
            <a:gdLst/>
            <a:ahLst/>
            <a:cxnLst/>
            <a:rect r="r" b="b" t="t" l="l"/>
            <a:pathLst>
              <a:path h="2596871" w="4116631">
                <a:moveTo>
                  <a:pt x="0" y="0"/>
                </a:moveTo>
                <a:lnTo>
                  <a:pt x="4116632" y="0"/>
                </a:lnTo>
                <a:lnTo>
                  <a:pt x="4116632" y="2596872"/>
                </a:lnTo>
                <a:lnTo>
                  <a:pt x="0" y="259687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685186" y="2419592"/>
            <a:ext cx="6549388" cy="3291068"/>
          </a:xfrm>
          <a:custGeom>
            <a:avLst/>
            <a:gdLst/>
            <a:ahLst/>
            <a:cxnLst/>
            <a:rect r="r" b="b" t="t" l="l"/>
            <a:pathLst>
              <a:path h="3291068" w="6549388">
                <a:moveTo>
                  <a:pt x="0" y="0"/>
                </a:moveTo>
                <a:lnTo>
                  <a:pt x="6549388" y="0"/>
                </a:lnTo>
                <a:lnTo>
                  <a:pt x="6549388" y="3291067"/>
                </a:lnTo>
                <a:lnTo>
                  <a:pt x="0" y="329106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8112168" y="7302717"/>
            <a:ext cx="5949865" cy="1352960"/>
            <a:chOff x="0" y="0"/>
            <a:chExt cx="1567043" cy="35633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567043" cy="356335"/>
            </a:xfrm>
            <a:custGeom>
              <a:avLst/>
              <a:gdLst/>
              <a:ahLst/>
              <a:cxnLst/>
              <a:rect r="r" b="b" t="t" l="l"/>
              <a:pathLst>
                <a:path h="356335" w="1567043">
                  <a:moveTo>
                    <a:pt x="0" y="0"/>
                  </a:moveTo>
                  <a:lnTo>
                    <a:pt x="1567043" y="0"/>
                  </a:lnTo>
                  <a:lnTo>
                    <a:pt x="1567043" y="356335"/>
                  </a:lnTo>
                  <a:lnTo>
                    <a:pt x="0" y="356335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28575"/>
              <a:ext cx="1567043" cy="3277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33" id="33"/>
          <p:cNvSpPr/>
          <p:nvPr/>
        </p:nvSpPr>
        <p:spPr>
          <a:xfrm flipH="false" flipV="false" rot="0">
            <a:off x="9252659" y="8095617"/>
            <a:ext cx="3433075" cy="454900"/>
          </a:xfrm>
          <a:custGeom>
            <a:avLst/>
            <a:gdLst/>
            <a:ahLst/>
            <a:cxnLst/>
            <a:rect r="r" b="b" t="t" l="l"/>
            <a:pathLst>
              <a:path h="454900" w="3433075">
                <a:moveTo>
                  <a:pt x="0" y="0"/>
                </a:moveTo>
                <a:lnTo>
                  <a:pt x="3433075" y="0"/>
                </a:lnTo>
                <a:lnTo>
                  <a:pt x="3433075" y="454901"/>
                </a:lnTo>
                <a:lnTo>
                  <a:pt x="0" y="45490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8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4001595" y="648658"/>
            <a:ext cx="12534623" cy="652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CR01 - IMPLEMENTAZIONE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16238" y="1995909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NESTED BENCHMARK: ANNOTAZIONI JUNIT 5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8553984" y="2127283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BUILD.GRADLES: IMPORT JUNIT 5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521932" y="5005809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CONVERTER: RIDENOMINAZIONE COMANDO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16238" y="6444608"/>
            <a:ext cx="4543002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TEMPLATE JUNIT5 PER WRAPPER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396044" y="7481867"/>
            <a:ext cx="5382113" cy="44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682"/>
              </a:lnSpc>
              <a:spcBef>
                <a:spcPct val="0"/>
              </a:spcBef>
            </a:pPr>
            <a:r>
              <a:rPr lang="en-US" b="true" sz="1601" spc="54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RIDENOMINAZIONE DA JUNIT4 A WRAPPER BENCHMARK FACTORY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430107" y="8767636"/>
            <a:ext cx="7315200" cy="2433967"/>
          </a:xfrm>
          <a:custGeom>
            <a:avLst/>
            <a:gdLst/>
            <a:ahLst/>
            <a:cxnLst/>
            <a:rect r="r" b="b" t="t" l="l"/>
            <a:pathLst>
              <a:path h="2433967" w="7315200">
                <a:moveTo>
                  <a:pt x="0" y="0"/>
                </a:moveTo>
                <a:lnTo>
                  <a:pt x="7315200" y="0"/>
                </a:lnTo>
                <a:lnTo>
                  <a:pt x="7315200" y="2433966"/>
                </a:lnTo>
                <a:lnTo>
                  <a:pt x="0" y="2433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true" rot="0">
            <a:off x="14540508" y="5987408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1"/>
                </a:moveTo>
                <a:lnTo>
                  <a:pt x="5081025" y="5978571"/>
                </a:lnTo>
                <a:lnTo>
                  <a:pt x="5081025" y="0"/>
                </a:lnTo>
                <a:lnTo>
                  <a:pt x="0" y="0"/>
                </a:lnTo>
                <a:lnTo>
                  <a:pt x="0" y="5978571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6128881" y="1028700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9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868899" y="783121"/>
            <a:ext cx="10793017" cy="1909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CR02 - INTEGRAZIONE AMBER (MANUTENZIONE ADATTIVA)</a:t>
            </a:r>
          </a:p>
        </p:txBody>
      </p:sp>
      <p:sp>
        <p:nvSpPr>
          <p:cNvPr name="Freeform 13" id="13"/>
          <p:cNvSpPr/>
          <p:nvPr/>
        </p:nvSpPr>
        <p:spPr>
          <a:xfrm flipH="false" flipV="true" rot="0">
            <a:off x="-3709327" y="5778350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1"/>
                </a:moveTo>
                <a:lnTo>
                  <a:pt x="5081025" y="5978571"/>
                </a:lnTo>
                <a:lnTo>
                  <a:pt x="5081025" y="0"/>
                </a:lnTo>
                <a:lnTo>
                  <a:pt x="0" y="0"/>
                </a:lnTo>
                <a:lnTo>
                  <a:pt x="0" y="5978571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7767800" y="4054799"/>
            <a:ext cx="4324746" cy="591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41"/>
              </a:lnSpc>
              <a:spcBef>
                <a:spcPct val="0"/>
              </a:spcBef>
            </a:pPr>
            <a:r>
              <a:rPr lang="en-US" b="true" sz="4039" spc="137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OBIETTIVO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945421" y="5098438"/>
            <a:ext cx="12639973" cy="1796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6"/>
              </a:lnSpc>
              <a:spcBef>
                <a:spcPct val="0"/>
              </a:spcBef>
            </a:pPr>
            <a:r>
              <a:rPr lang="en-US" sz="3330" spc="11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L'istanza interna di parsing falliva sui file con sintassi Java moderne (livello 17). L'obiettivo era aggiornare l'infrastruttura e configurare il parser per supportare Amber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2327569" y="15904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4"/>
                </a:lnTo>
                <a:lnTo>
                  <a:pt x="0" y="12357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318810" y="250453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430107" y="8767636"/>
            <a:ext cx="7315200" cy="2433967"/>
          </a:xfrm>
          <a:custGeom>
            <a:avLst/>
            <a:gdLst/>
            <a:ahLst/>
            <a:cxnLst/>
            <a:rect r="r" b="b" t="t" l="l"/>
            <a:pathLst>
              <a:path h="2433967" w="7315200">
                <a:moveTo>
                  <a:pt x="0" y="0"/>
                </a:moveTo>
                <a:lnTo>
                  <a:pt x="7315200" y="0"/>
                </a:lnTo>
                <a:lnTo>
                  <a:pt x="7315200" y="2433966"/>
                </a:lnTo>
                <a:lnTo>
                  <a:pt x="0" y="2433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true" rot="0">
            <a:off x="14540508" y="5987408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1"/>
                </a:moveTo>
                <a:lnTo>
                  <a:pt x="5081025" y="5978571"/>
                </a:lnTo>
                <a:lnTo>
                  <a:pt x="5081025" y="0"/>
                </a:lnTo>
                <a:lnTo>
                  <a:pt x="0" y="0"/>
                </a:lnTo>
                <a:lnTo>
                  <a:pt x="0" y="5978571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6128881" y="1028700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true" rot="0">
            <a:off x="-3709327" y="6611224"/>
            <a:ext cx="4373188" cy="5145698"/>
          </a:xfrm>
          <a:custGeom>
            <a:avLst/>
            <a:gdLst/>
            <a:ahLst/>
            <a:cxnLst/>
            <a:rect r="r" b="b" t="t" l="l"/>
            <a:pathLst>
              <a:path h="5145698" w="4373188">
                <a:moveTo>
                  <a:pt x="0" y="5145697"/>
                </a:moveTo>
                <a:lnTo>
                  <a:pt x="4373188" y="5145697"/>
                </a:lnTo>
                <a:lnTo>
                  <a:pt x="4373188" y="0"/>
                </a:lnTo>
                <a:lnTo>
                  <a:pt x="0" y="0"/>
                </a:lnTo>
                <a:lnTo>
                  <a:pt x="0" y="5145697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327569" y="15904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4"/>
                </a:lnTo>
                <a:lnTo>
                  <a:pt x="0" y="12357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18810" y="250453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318810" y="2652767"/>
            <a:ext cx="11598547" cy="3621223"/>
            <a:chOff x="0" y="0"/>
            <a:chExt cx="3054761" cy="95373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054761" cy="953738"/>
            </a:xfrm>
            <a:custGeom>
              <a:avLst/>
              <a:gdLst/>
              <a:ahLst/>
              <a:cxnLst/>
              <a:rect r="r" b="b" t="t" l="l"/>
              <a:pathLst>
                <a:path h="953738" w="3054761">
                  <a:moveTo>
                    <a:pt x="0" y="0"/>
                  </a:moveTo>
                  <a:lnTo>
                    <a:pt x="3054761" y="0"/>
                  </a:lnTo>
                  <a:lnTo>
                    <a:pt x="3054761" y="953738"/>
                  </a:lnTo>
                  <a:lnTo>
                    <a:pt x="0" y="953738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28575"/>
              <a:ext cx="3054761" cy="9251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2644498" y="2971407"/>
            <a:ext cx="5250733" cy="3862525"/>
          </a:xfrm>
          <a:custGeom>
            <a:avLst/>
            <a:gdLst/>
            <a:ahLst/>
            <a:cxnLst/>
            <a:rect r="r" b="b" t="t" l="l"/>
            <a:pathLst>
              <a:path h="3862525" w="5250733">
                <a:moveTo>
                  <a:pt x="0" y="0"/>
                </a:moveTo>
                <a:lnTo>
                  <a:pt x="5250733" y="0"/>
                </a:lnTo>
                <a:lnTo>
                  <a:pt x="5250733" y="3862525"/>
                </a:lnTo>
                <a:lnTo>
                  <a:pt x="0" y="38625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10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83024" y="651038"/>
            <a:ext cx="12534623" cy="652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CR02 - IMPACT ANALYSIS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861565" y="2420990"/>
            <a:ext cx="2816598" cy="4598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96"/>
              </a:lnSpc>
              <a:spcBef>
                <a:spcPct val="0"/>
              </a:spcBef>
            </a:pPr>
            <a:r>
              <a:rPr lang="en-US" b="true" sz="3139" spc="10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CALL GRAPH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58810" y="1939136"/>
            <a:ext cx="12021960" cy="1032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912"/>
              </a:lnSpc>
            </a:pPr>
            <a:r>
              <a:rPr lang="en-US" sz="2774" spc="94">
                <a:solidFill>
                  <a:srgbClr val="FFDE59"/>
                </a:solidFill>
                <a:latin typeface="Poppins"/>
                <a:ea typeface="Poppins"/>
                <a:cs typeface="Poppins"/>
                <a:sym typeface="Poppins"/>
              </a:rPr>
              <a:t>Componenti direttamente coinvolte in questa CR:</a:t>
            </a:r>
          </a:p>
          <a:p>
            <a:pPr algn="l">
              <a:lnSpc>
                <a:spcPts val="2282"/>
              </a:lnSpc>
            </a:pPr>
          </a:p>
          <a:p>
            <a:pPr algn="just">
              <a:lnSpc>
                <a:spcPts val="2730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458810" y="2800058"/>
            <a:ext cx="12286497" cy="2889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SIS = {InputClassRepository, Build.gradle}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IS = {InputClassRepository, Build.gradle} 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AIS = {Converter, InputClassRepository, Build.gradle, jmh-core.1.37} 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FP</a:t>
            </a: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IS = {∅} 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DIS = {Converter, jmh-core-1.37}</a:t>
            </a:r>
          </a:p>
          <a:p>
            <a:pPr algn="l">
              <a:lnSpc>
                <a:spcPts val="2278"/>
              </a:lnSpc>
              <a:spcBef>
                <a:spcPct val="0"/>
              </a:spcBef>
            </a:pPr>
          </a:p>
        </p:txBody>
      </p:sp>
      <p:sp>
        <p:nvSpPr>
          <p:cNvPr name="TextBox 23" id="23"/>
          <p:cNvSpPr txBox="true"/>
          <p:nvPr/>
        </p:nvSpPr>
        <p:spPr>
          <a:xfrm rot="0">
            <a:off x="318810" y="5991109"/>
            <a:ext cx="12021960" cy="2112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282"/>
              </a:lnSpc>
            </a:pPr>
          </a:p>
          <a:p>
            <a:pPr algn="just">
              <a:lnSpc>
                <a:spcPts val="2282"/>
              </a:lnSpc>
            </a:pPr>
          </a:p>
          <a:p>
            <a:pPr algn="just" marL="938851" indent="-312950" lvl="2">
              <a:lnSpc>
                <a:spcPts val="2282"/>
              </a:lnSpc>
              <a:buFont typeface="Arial"/>
              <a:buChar char="⚬"/>
            </a:pP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Precision:  |CIS ∩ AIS| / |AIS| = 1.00</a:t>
            </a:r>
          </a:p>
          <a:p>
            <a:pPr algn="just">
              <a:lnSpc>
                <a:spcPts val="2282"/>
              </a:lnSpc>
            </a:pPr>
          </a:p>
          <a:p>
            <a:pPr algn="just" marL="938851" indent="-312950" lvl="2">
              <a:lnSpc>
                <a:spcPts val="2282"/>
              </a:lnSpc>
              <a:buFont typeface="Arial"/>
              <a:buChar char="⚬"/>
            </a:pP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Rec</a:t>
            </a: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ll:       |CIS ∩ AIS| / |CIS| = 0.5</a:t>
            </a:r>
          </a:p>
          <a:p>
            <a:pPr algn="l">
              <a:lnSpc>
                <a:spcPts val="2282"/>
              </a:lnSpc>
            </a:pPr>
          </a:p>
          <a:p>
            <a:pPr algn="just">
              <a:lnSpc>
                <a:spcPts val="273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18810" y="4775702"/>
            <a:ext cx="5898959" cy="2349854"/>
            <a:chOff x="0" y="0"/>
            <a:chExt cx="1553635" cy="61889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53635" cy="618892"/>
            </a:xfrm>
            <a:custGeom>
              <a:avLst/>
              <a:gdLst/>
              <a:ahLst/>
              <a:cxnLst/>
              <a:rect r="r" b="b" t="t" l="l"/>
              <a:pathLst>
                <a:path h="618892" w="1553635">
                  <a:moveTo>
                    <a:pt x="0" y="0"/>
                  </a:moveTo>
                  <a:lnTo>
                    <a:pt x="1553635" y="0"/>
                  </a:lnTo>
                  <a:lnTo>
                    <a:pt x="1553635" y="618892"/>
                  </a:lnTo>
                  <a:lnTo>
                    <a:pt x="0" y="618892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28575"/>
              <a:ext cx="1553635" cy="590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5430107" y="8767636"/>
            <a:ext cx="7315200" cy="2433967"/>
          </a:xfrm>
          <a:custGeom>
            <a:avLst/>
            <a:gdLst/>
            <a:ahLst/>
            <a:cxnLst/>
            <a:rect r="r" b="b" t="t" l="l"/>
            <a:pathLst>
              <a:path h="2433967" w="7315200">
                <a:moveTo>
                  <a:pt x="0" y="0"/>
                </a:moveTo>
                <a:lnTo>
                  <a:pt x="7315200" y="0"/>
                </a:lnTo>
                <a:lnTo>
                  <a:pt x="7315200" y="2433966"/>
                </a:lnTo>
                <a:lnTo>
                  <a:pt x="0" y="2433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8125026" y="4897585"/>
            <a:ext cx="8003855" cy="2106089"/>
            <a:chOff x="0" y="0"/>
            <a:chExt cx="2108011" cy="55469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08011" cy="554690"/>
            </a:xfrm>
            <a:custGeom>
              <a:avLst/>
              <a:gdLst/>
              <a:ahLst/>
              <a:cxnLst/>
              <a:rect r="r" b="b" t="t" l="l"/>
              <a:pathLst>
                <a:path h="554690" w="2108011">
                  <a:moveTo>
                    <a:pt x="0" y="0"/>
                  </a:moveTo>
                  <a:lnTo>
                    <a:pt x="2108011" y="0"/>
                  </a:lnTo>
                  <a:lnTo>
                    <a:pt x="2108011" y="554690"/>
                  </a:lnTo>
                  <a:lnTo>
                    <a:pt x="0" y="554690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28575"/>
              <a:ext cx="2108011" cy="5261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true" rot="0">
            <a:off x="14540508" y="5987408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1"/>
                </a:moveTo>
                <a:lnTo>
                  <a:pt x="5081025" y="5978571"/>
                </a:lnTo>
                <a:lnTo>
                  <a:pt x="5081025" y="0"/>
                </a:lnTo>
                <a:lnTo>
                  <a:pt x="0" y="0"/>
                </a:lnTo>
                <a:lnTo>
                  <a:pt x="0" y="5978571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6128881" y="1028700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3709327" y="6611224"/>
            <a:ext cx="4373188" cy="5145698"/>
          </a:xfrm>
          <a:custGeom>
            <a:avLst/>
            <a:gdLst/>
            <a:ahLst/>
            <a:cxnLst/>
            <a:rect r="r" b="b" t="t" l="l"/>
            <a:pathLst>
              <a:path h="5145698" w="4373188">
                <a:moveTo>
                  <a:pt x="0" y="5145697"/>
                </a:moveTo>
                <a:lnTo>
                  <a:pt x="4373188" y="5145697"/>
                </a:lnTo>
                <a:lnTo>
                  <a:pt x="4373188" y="0"/>
                </a:lnTo>
                <a:lnTo>
                  <a:pt x="0" y="0"/>
                </a:lnTo>
                <a:lnTo>
                  <a:pt x="0" y="5145697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2327569" y="15904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4"/>
                </a:lnTo>
                <a:lnTo>
                  <a:pt x="0" y="12357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318810" y="250453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318810" y="1898487"/>
            <a:ext cx="7282140" cy="2257446"/>
            <a:chOff x="0" y="0"/>
            <a:chExt cx="1917930" cy="59455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17930" cy="594554"/>
            </a:xfrm>
            <a:custGeom>
              <a:avLst/>
              <a:gdLst/>
              <a:ahLst/>
              <a:cxnLst/>
              <a:rect r="r" b="b" t="t" l="l"/>
              <a:pathLst>
                <a:path h="594554" w="1917930">
                  <a:moveTo>
                    <a:pt x="0" y="0"/>
                  </a:moveTo>
                  <a:lnTo>
                    <a:pt x="1917930" y="0"/>
                  </a:lnTo>
                  <a:lnTo>
                    <a:pt x="1917930" y="594554"/>
                  </a:lnTo>
                  <a:lnTo>
                    <a:pt x="0" y="594554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28575"/>
              <a:ext cx="1917930" cy="5659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112168" y="1986384"/>
            <a:ext cx="8291354" cy="2617868"/>
            <a:chOff x="0" y="0"/>
            <a:chExt cx="2183731" cy="6894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83731" cy="689480"/>
            </a:xfrm>
            <a:custGeom>
              <a:avLst/>
              <a:gdLst/>
              <a:ahLst/>
              <a:cxnLst/>
              <a:rect r="r" b="b" t="t" l="l"/>
              <a:pathLst>
                <a:path h="689480" w="2183731">
                  <a:moveTo>
                    <a:pt x="0" y="0"/>
                  </a:moveTo>
                  <a:lnTo>
                    <a:pt x="2183731" y="0"/>
                  </a:lnTo>
                  <a:lnTo>
                    <a:pt x="2183731" y="689480"/>
                  </a:lnTo>
                  <a:lnTo>
                    <a:pt x="0" y="689480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28575"/>
              <a:ext cx="2183731" cy="66090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572252" y="2582514"/>
            <a:ext cx="6775255" cy="1278829"/>
          </a:xfrm>
          <a:custGeom>
            <a:avLst/>
            <a:gdLst/>
            <a:ahLst/>
            <a:cxnLst/>
            <a:rect r="r" b="b" t="t" l="l"/>
            <a:pathLst>
              <a:path h="1278829" w="6775255">
                <a:moveTo>
                  <a:pt x="0" y="0"/>
                </a:moveTo>
                <a:lnTo>
                  <a:pt x="6775256" y="0"/>
                </a:lnTo>
                <a:lnTo>
                  <a:pt x="6775256" y="1278829"/>
                </a:lnTo>
                <a:lnTo>
                  <a:pt x="0" y="12788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8396044" y="2442802"/>
            <a:ext cx="7558527" cy="2113825"/>
          </a:xfrm>
          <a:custGeom>
            <a:avLst/>
            <a:gdLst/>
            <a:ahLst/>
            <a:cxnLst/>
            <a:rect r="r" b="b" t="t" l="l"/>
            <a:pathLst>
              <a:path h="2113825" w="7558527">
                <a:moveTo>
                  <a:pt x="0" y="0"/>
                </a:moveTo>
                <a:lnTo>
                  <a:pt x="7558527" y="0"/>
                </a:lnTo>
                <a:lnTo>
                  <a:pt x="7558527" y="2113825"/>
                </a:lnTo>
                <a:lnTo>
                  <a:pt x="0" y="211382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16238" y="5441808"/>
            <a:ext cx="5064992" cy="1295696"/>
          </a:xfrm>
          <a:custGeom>
            <a:avLst/>
            <a:gdLst/>
            <a:ahLst/>
            <a:cxnLst/>
            <a:rect r="r" b="b" t="t" l="l"/>
            <a:pathLst>
              <a:path h="1295696" w="5064992">
                <a:moveTo>
                  <a:pt x="0" y="0"/>
                </a:moveTo>
                <a:lnTo>
                  <a:pt x="5064992" y="0"/>
                </a:lnTo>
                <a:lnTo>
                  <a:pt x="5064992" y="1295696"/>
                </a:lnTo>
                <a:lnTo>
                  <a:pt x="0" y="129569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8349257" y="5319291"/>
            <a:ext cx="6664287" cy="1587854"/>
          </a:xfrm>
          <a:custGeom>
            <a:avLst/>
            <a:gdLst/>
            <a:ahLst/>
            <a:cxnLst/>
            <a:rect r="r" b="b" t="t" l="l"/>
            <a:pathLst>
              <a:path h="1587854" w="6664287">
                <a:moveTo>
                  <a:pt x="0" y="0"/>
                </a:moveTo>
                <a:lnTo>
                  <a:pt x="6664287" y="0"/>
                </a:lnTo>
                <a:lnTo>
                  <a:pt x="6664287" y="1587854"/>
                </a:lnTo>
                <a:lnTo>
                  <a:pt x="0" y="158785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-34305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11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001595" y="648658"/>
            <a:ext cx="12534623" cy="652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CR02 - IMPLEMENTAZIONE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16238" y="1995909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CONVERTER: LINGUAGGIO JAVA_17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553984" y="2127283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BUILD.GRADLES: TOOLCHAIN JAVA_17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49047" y="5005809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PARSER BYTECODE JAVA_17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8396044" y="5005809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INPUTCLASSREPOSITORY: BYTECODE JAVA_17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430107" y="8767636"/>
            <a:ext cx="7315200" cy="2433967"/>
          </a:xfrm>
          <a:custGeom>
            <a:avLst/>
            <a:gdLst/>
            <a:ahLst/>
            <a:cxnLst/>
            <a:rect r="r" b="b" t="t" l="l"/>
            <a:pathLst>
              <a:path h="2433967" w="7315200">
                <a:moveTo>
                  <a:pt x="0" y="0"/>
                </a:moveTo>
                <a:lnTo>
                  <a:pt x="7315200" y="0"/>
                </a:lnTo>
                <a:lnTo>
                  <a:pt x="7315200" y="2433966"/>
                </a:lnTo>
                <a:lnTo>
                  <a:pt x="0" y="2433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true" rot="0">
            <a:off x="14540508" y="5987408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1"/>
                </a:moveTo>
                <a:lnTo>
                  <a:pt x="5081025" y="5978571"/>
                </a:lnTo>
                <a:lnTo>
                  <a:pt x="5081025" y="0"/>
                </a:lnTo>
                <a:lnTo>
                  <a:pt x="0" y="0"/>
                </a:lnTo>
                <a:lnTo>
                  <a:pt x="0" y="5978571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6128881" y="1028700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868899" y="492139"/>
            <a:ext cx="10793017" cy="2538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CR03 - CONTROLLO GRANULARITÀ (MANUTENZIONE PERFETTIVA)</a:t>
            </a:r>
          </a:p>
        </p:txBody>
      </p:sp>
      <p:sp>
        <p:nvSpPr>
          <p:cNvPr name="Freeform 13" id="13"/>
          <p:cNvSpPr/>
          <p:nvPr/>
        </p:nvSpPr>
        <p:spPr>
          <a:xfrm flipH="false" flipV="true" rot="0">
            <a:off x="-3709327" y="5778350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1"/>
                </a:moveTo>
                <a:lnTo>
                  <a:pt x="5081025" y="5978571"/>
                </a:lnTo>
                <a:lnTo>
                  <a:pt x="5081025" y="0"/>
                </a:lnTo>
                <a:lnTo>
                  <a:pt x="0" y="0"/>
                </a:lnTo>
                <a:lnTo>
                  <a:pt x="0" y="5978571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7767800" y="4054799"/>
            <a:ext cx="4324746" cy="591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41"/>
              </a:lnSpc>
              <a:spcBef>
                <a:spcPct val="0"/>
              </a:spcBef>
            </a:pPr>
            <a:r>
              <a:rPr lang="en-US" b="true" sz="4039" spc="137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OBIETTIVO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945421" y="5098438"/>
            <a:ext cx="12639973" cy="1796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6"/>
              </a:lnSpc>
            </a:pPr>
            <a:r>
              <a:rPr lang="en-US" sz="3330" spc="11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Il tool obbligava l'utente a convertire intere classi. </a:t>
            </a:r>
          </a:p>
          <a:p>
            <a:pPr algn="ctr">
              <a:lnSpc>
                <a:spcPts val="3496"/>
              </a:lnSpc>
              <a:spcBef>
                <a:spcPct val="0"/>
              </a:spcBef>
            </a:pPr>
            <a:r>
              <a:rPr lang="en-US" sz="3330" spc="11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Necessario introdurre un sistema per convertire metodi e risolvere il problema di sovrascrittura delle classi convertite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2327569" y="15904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4"/>
                </a:lnTo>
                <a:lnTo>
                  <a:pt x="0" y="12357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318810" y="250453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430107" y="8767636"/>
            <a:ext cx="7315200" cy="2433967"/>
          </a:xfrm>
          <a:custGeom>
            <a:avLst/>
            <a:gdLst/>
            <a:ahLst/>
            <a:cxnLst/>
            <a:rect r="r" b="b" t="t" l="l"/>
            <a:pathLst>
              <a:path h="2433967" w="7315200">
                <a:moveTo>
                  <a:pt x="0" y="0"/>
                </a:moveTo>
                <a:lnTo>
                  <a:pt x="7315200" y="0"/>
                </a:lnTo>
                <a:lnTo>
                  <a:pt x="7315200" y="2433966"/>
                </a:lnTo>
                <a:lnTo>
                  <a:pt x="0" y="2433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true" rot="0">
            <a:off x="14540508" y="5987408"/>
            <a:ext cx="5081025" cy="5978571"/>
          </a:xfrm>
          <a:custGeom>
            <a:avLst/>
            <a:gdLst/>
            <a:ahLst/>
            <a:cxnLst/>
            <a:rect r="r" b="b" t="t" l="l"/>
            <a:pathLst>
              <a:path h="5978571" w="5081025">
                <a:moveTo>
                  <a:pt x="0" y="5978571"/>
                </a:moveTo>
                <a:lnTo>
                  <a:pt x="5081025" y="5978571"/>
                </a:lnTo>
                <a:lnTo>
                  <a:pt x="5081025" y="0"/>
                </a:lnTo>
                <a:lnTo>
                  <a:pt x="0" y="0"/>
                </a:lnTo>
                <a:lnTo>
                  <a:pt x="0" y="5978571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6128881" y="1028700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true" rot="0">
            <a:off x="-3709327" y="6611224"/>
            <a:ext cx="4373188" cy="5145698"/>
          </a:xfrm>
          <a:custGeom>
            <a:avLst/>
            <a:gdLst/>
            <a:ahLst/>
            <a:cxnLst/>
            <a:rect r="r" b="b" t="t" l="l"/>
            <a:pathLst>
              <a:path h="5145698" w="4373188">
                <a:moveTo>
                  <a:pt x="0" y="5145697"/>
                </a:moveTo>
                <a:lnTo>
                  <a:pt x="4373188" y="5145697"/>
                </a:lnTo>
                <a:lnTo>
                  <a:pt x="4373188" y="0"/>
                </a:lnTo>
                <a:lnTo>
                  <a:pt x="0" y="0"/>
                </a:lnTo>
                <a:lnTo>
                  <a:pt x="0" y="5145697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327569" y="15904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4"/>
                </a:lnTo>
                <a:lnTo>
                  <a:pt x="0" y="12357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18810" y="250453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458810" y="2598146"/>
            <a:ext cx="11598547" cy="3621223"/>
            <a:chOff x="0" y="0"/>
            <a:chExt cx="3054761" cy="95373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054761" cy="953738"/>
            </a:xfrm>
            <a:custGeom>
              <a:avLst/>
              <a:gdLst/>
              <a:ahLst/>
              <a:cxnLst/>
              <a:rect r="r" b="b" t="t" l="l"/>
              <a:pathLst>
                <a:path h="953738" w="3054761">
                  <a:moveTo>
                    <a:pt x="0" y="0"/>
                  </a:moveTo>
                  <a:lnTo>
                    <a:pt x="3054761" y="0"/>
                  </a:lnTo>
                  <a:lnTo>
                    <a:pt x="3054761" y="953738"/>
                  </a:lnTo>
                  <a:lnTo>
                    <a:pt x="0" y="953738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28575"/>
              <a:ext cx="3054761" cy="9251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1703376" y="3100249"/>
            <a:ext cx="6583694" cy="2617018"/>
          </a:xfrm>
          <a:custGeom>
            <a:avLst/>
            <a:gdLst/>
            <a:ahLst/>
            <a:cxnLst/>
            <a:rect r="r" b="b" t="t" l="l"/>
            <a:pathLst>
              <a:path h="2617018" w="6583694">
                <a:moveTo>
                  <a:pt x="0" y="0"/>
                </a:moveTo>
                <a:lnTo>
                  <a:pt x="6583694" y="0"/>
                </a:lnTo>
                <a:lnTo>
                  <a:pt x="6583694" y="2617018"/>
                </a:lnTo>
                <a:lnTo>
                  <a:pt x="0" y="26170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83024" y="651038"/>
            <a:ext cx="12534623" cy="652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CR03 - IMPACT ANALYSIS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586924" y="2364998"/>
            <a:ext cx="2816598" cy="4598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96"/>
              </a:lnSpc>
              <a:spcBef>
                <a:spcPct val="0"/>
              </a:spcBef>
            </a:pPr>
            <a:r>
              <a:rPr lang="en-US" b="true" sz="3139" spc="10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CALL GRAPH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58810" y="1939136"/>
            <a:ext cx="12021960" cy="1327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912"/>
              </a:lnSpc>
            </a:pPr>
            <a:r>
              <a:rPr lang="en-US" sz="2774" spc="94">
                <a:solidFill>
                  <a:srgbClr val="FFDE59"/>
                </a:solidFill>
                <a:latin typeface="Poppins"/>
                <a:ea typeface="Poppins"/>
                <a:cs typeface="Poppins"/>
                <a:sym typeface="Poppins"/>
              </a:rPr>
              <a:t>Componenti direttamente coinvolte in questa CR:</a:t>
            </a:r>
          </a:p>
          <a:p>
            <a:pPr algn="just">
              <a:lnSpc>
                <a:spcPts val="2282"/>
              </a:lnSpc>
            </a:pPr>
          </a:p>
          <a:p>
            <a:pPr algn="l">
              <a:lnSpc>
                <a:spcPts val="2282"/>
              </a:lnSpc>
            </a:pPr>
          </a:p>
          <a:p>
            <a:pPr algn="just">
              <a:lnSpc>
                <a:spcPts val="2730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598810" y="2745438"/>
            <a:ext cx="12286497" cy="2889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SIS = {Converter}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IS = {Converter} 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AIS = {Converter, NestedBenchmarkBuilder, WrapperBenchmarkFactory} 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FP</a:t>
            </a: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IS = {∅} </a:t>
            </a:r>
          </a:p>
          <a:p>
            <a:pPr algn="l">
              <a:lnSpc>
                <a:spcPts val="2278"/>
              </a:lnSpc>
            </a:pPr>
          </a:p>
          <a:p>
            <a:pPr algn="l">
              <a:lnSpc>
                <a:spcPts val="2278"/>
              </a:lnSpc>
            </a:pPr>
            <a:r>
              <a:rPr lang="en-US" sz="2169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DIS = {NestedBenchmarkBuilder, WrapperBenchmarkFactory}</a:t>
            </a:r>
          </a:p>
          <a:p>
            <a:pPr algn="l">
              <a:lnSpc>
                <a:spcPts val="2278"/>
              </a:lnSpc>
              <a:spcBef>
                <a:spcPct val="0"/>
              </a:spcBef>
            </a:pPr>
          </a:p>
        </p:txBody>
      </p:sp>
      <p:sp>
        <p:nvSpPr>
          <p:cNvPr name="TextBox 23" id="23"/>
          <p:cNvSpPr txBox="true"/>
          <p:nvPr/>
        </p:nvSpPr>
        <p:spPr>
          <a:xfrm rot="0">
            <a:off x="458810" y="5936488"/>
            <a:ext cx="12021960" cy="2112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282"/>
              </a:lnSpc>
            </a:pPr>
          </a:p>
          <a:p>
            <a:pPr algn="just">
              <a:lnSpc>
                <a:spcPts val="2282"/>
              </a:lnSpc>
            </a:pPr>
          </a:p>
          <a:p>
            <a:pPr algn="just" marL="938851" indent="-312950" lvl="2">
              <a:lnSpc>
                <a:spcPts val="2282"/>
              </a:lnSpc>
              <a:buFont typeface="Arial"/>
              <a:buChar char="⚬"/>
            </a:pP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Precision:  |CIS ∩ AIS| / |AIS| = 1.00</a:t>
            </a:r>
          </a:p>
          <a:p>
            <a:pPr algn="just">
              <a:lnSpc>
                <a:spcPts val="2282"/>
              </a:lnSpc>
            </a:pPr>
          </a:p>
          <a:p>
            <a:pPr algn="just" marL="938851" indent="-312950" lvl="2">
              <a:lnSpc>
                <a:spcPts val="2282"/>
              </a:lnSpc>
              <a:buFont typeface="Arial"/>
              <a:buChar char="⚬"/>
            </a:pP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Rec</a:t>
            </a: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n-US" sz="2174" spc="7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ll:       |CIS ∩ AIS| / |CIS| ≈ 0.33 </a:t>
            </a:r>
          </a:p>
          <a:p>
            <a:pPr algn="l">
              <a:lnSpc>
                <a:spcPts val="2282"/>
              </a:lnSpc>
            </a:pPr>
          </a:p>
          <a:p>
            <a:pPr algn="just">
              <a:lnSpc>
                <a:spcPts val="273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425645" y="5556636"/>
            <a:ext cx="6047778" cy="3529088"/>
            <a:chOff x="0" y="0"/>
            <a:chExt cx="1592830" cy="92947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92830" cy="929472"/>
            </a:xfrm>
            <a:custGeom>
              <a:avLst/>
              <a:gdLst/>
              <a:ahLst/>
              <a:cxnLst/>
              <a:rect r="r" b="b" t="t" l="l"/>
              <a:pathLst>
                <a:path h="929472" w="1592830">
                  <a:moveTo>
                    <a:pt x="0" y="0"/>
                  </a:moveTo>
                  <a:lnTo>
                    <a:pt x="1592830" y="0"/>
                  </a:lnTo>
                  <a:lnTo>
                    <a:pt x="1592830" y="929472"/>
                  </a:lnTo>
                  <a:lnTo>
                    <a:pt x="0" y="929472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28575"/>
              <a:ext cx="1592830" cy="9008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5430107" y="8767636"/>
            <a:ext cx="7315200" cy="2433967"/>
          </a:xfrm>
          <a:custGeom>
            <a:avLst/>
            <a:gdLst/>
            <a:ahLst/>
            <a:cxnLst/>
            <a:rect r="r" b="b" t="t" l="l"/>
            <a:pathLst>
              <a:path h="2433967" w="7315200">
                <a:moveTo>
                  <a:pt x="0" y="0"/>
                </a:moveTo>
                <a:lnTo>
                  <a:pt x="7315200" y="0"/>
                </a:lnTo>
                <a:lnTo>
                  <a:pt x="7315200" y="2433966"/>
                </a:lnTo>
                <a:lnTo>
                  <a:pt x="0" y="2433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-86772" y="1904421"/>
            <a:ext cx="5570024" cy="6122802"/>
            <a:chOff x="0" y="0"/>
            <a:chExt cx="1467002" cy="161259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67002" cy="1612590"/>
            </a:xfrm>
            <a:custGeom>
              <a:avLst/>
              <a:gdLst/>
              <a:ahLst/>
              <a:cxnLst/>
              <a:rect r="r" b="b" t="t" l="l"/>
              <a:pathLst>
                <a:path h="1612590" w="1467002">
                  <a:moveTo>
                    <a:pt x="0" y="0"/>
                  </a:moveTo>
                  <a:lnTo>
                    <a:pt x="1467002" y="0"/>
                  </a:lnTo>
                  <a:lnTo>
                    <a:pt x="1467002" y="1612590"/>
                  </a:lnTo>
                  <a:lnTo>
                    <a:pt x="0" y="1612590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28575"/>
              <a:ext cx="1467002" cy="15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true" rot="0">
            <a:off x="15905402" y="7801977"/>
            <a:ext cx="3492652" cy="4109618"/>
          </a:xfrm>
          <a:custGeom>
            <a:avLst/>
            <a:gdLst/>
            <a:ahLst/>
            <a:cxnLst/>
            <a:rect r="r" b="b" t="t" l="l"/>
            <a:pathLst>
              <a:path h="4109618" w="3492652">
                <a:moveTo>
                  <a:pt x="0" y="4109618"/>
                </a:moveTo>
                <a:lnTo>
                  <a:pt x="3492653" y="4109618"/>
                </a:lnTo>
                <a:lnTo>
                  <a:pt x="3492653" y="0"/>
                </a:lnTo>
                <a:lnTo>
                  <a:pt x="0" y="0"/>
                </a:lnTo>
                <a:lnTo>
                  <a:pt x="0" y="4109618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6128881" y="1028700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2"/>
                </a:lnTo>
                <a:lnTo>
                  <a:pt x="0" y="5492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3709327" y="6611224"/>
            <a:ext cx="4373188" cy="5145698"/>
          </a:xfrm>
          <a:custGeom>
            <a:avLst/>
            <a:gdLst/>
            <a:ahLst/>
            <a:cxnLst/>
            <a:rect r="r" b="b" t="t" l="l"/>
            <a:pathLst>
              <a:path h="5145698" w="4373188">
                <a:moveTo>
                  <a:pt x="0" y="5145697"/>
                </a:moveTo>
                <a:lnTo>
                  <a:pt x="4373188" y="5145697"/>
                </a:lnTo>
                <a:lnTo>
                  <a:pt x="4373188" y="0"/>
                </a:lnTo>
                <a:lnTo>
                  <a:pt x="0" y="0"/>
                </a:lnTo>
                <a:lnTo>
                  <a:pt x="0" y="5145697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2327569" y="15904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4"/>
                </a:lnTo>
                <a:lnTo>
                  <a:pt x="0" y="12357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318810" y="250453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1763074" y="1964419"/>
            <a:ext cx="6605326" cy="5579471"/>
            <a:chOff x="0" y="0"/>
            <a:chExt cx="1739674" cy="14694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739674" cy="1469490"/>
            </a:xfrm>
            <a:custGeom>
              <a:avLst/>
              <a:gdLst/>
              <a:ahLst/>
              <a:cxnLst/>
              <a:rect r="r" b="b" t="t" l="l"/>
              <a:pathLst>
                <a:path h="1469490" w="1739674">
                  <a:moveTo>
                    <a:pt x="0" y="0"/>
                  </a:moveTo>
                  <a:lnTo>
                    <a:pt x="1739674" y="0"/>
                  </a:lnTo>
                  <a:lnTo>
                    <a:pt x="1739674" y="1469490"/>
                  </a:lnTo>
                  <a:lnTo>
                    <a:pt x="0" y="1469490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28575"/>
              <a:ext cx="1739674" cy="1440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5170046" y="1904421"/>
            <a:ext cx="6303377" cy="3708635"/>
            <a:chOff x="0" y="0"/>
            <a:chExt cx="1660149" cy="97676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60149" cy="976760"/>
            </a:xfrm>
            <a:custGeom>
              <a:avLst/>
              <a:gdLst/>
              <a:ahLst/>
              <a:cxnLst/>
              <a:rect r="r" b="b" t="t" l="l"/>
              <a:pathLst>
                <a:path h="976760" w="1660149">
                  <a:moveTo>
                    <a:pt x="0" y="0"/>
                  </a:moveTo>
                  <a:lnTo>
                    <a:pt x="1660149" y="0"/>
                  </a:lnTo>
                  <a:lnTo>
                    <a:pt x="1660149" y="976760"/>
                  </a:lnTo>
                  <a:lnTo>
                    <a:pt x="0" y="976760"/>
                  </a:lnTo>
                  <a:close/>
                </a:path>
              </a:pathLst>
            </a:custGeom>
            <a:solidFill>
              <a:srgbClr val="0097B2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28575"/>
              <a:ext cx="1660149" cy="9481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5892508" y="6306734"/>
            <a:ext cx="4705466" cy="2623298"/>
          </a:xfrm>
          <a:custGeom>
            <a:avLst/>
            <a:gdLst/>
            <a:ahLst/>
            <a:cxnLst/>
            <a:rect r="r" b="b" t="t" l="l"/>
            <a:pathLst>
              <a:path h="2623298" w="4705466">
                <a:moveTo>
                  <a:pt x="0" y="0"/>
                </a:moveTo>
                <a:lnTo>
                  <a:pt x="4705466" y="0"/>
                </a:lnTo>
                <a:lnTo>
                  <a:pt x="4705466" y="2623297"/>
                </a:lnTo>
                <a:lnTo>
                  <a:pt x="0" y="262329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2021936" y="2935989"/>
            <a:ext cx="6087602" cy="3507981"/>
          </a:xfrm>
          <a:custGeom>
            <a:avLst/>
            <a:gdLst/>
            <a:ahLst/>
            <a:cxnLst/>
            <a:rect r="r" b="b" t="t" l="l"/>
            <a:pathLst>
              <a:path h="3507981" w="6087602">
                <a:moveTo>
                  <a:pt x="0" y="0"/>
                </a:moveTo>
                <a:lnTo>
                  <a:pt x="6087602" y="0"/>
                </a:lnTo>
                <a:lnTo>
                  <a:pt x="6087602" y="3507981"/>
                </a:lnTo>
                <a:lnTo>
                  <a:pt x="0" y="350798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27001" y="4486467"/>
            <a:ext cx="5289084" cy="2922219"/>
          </a:xfrm>
          <a:custGeom>
            <a:avLst/>
            <a:gdLst/>
            <a:ahLst/>
            <a:cxnLst/>
            <a:rect r="r" b="b" t="t" l="l"/>
            <a:pathLst>
              <a:path h="2922219" w="5289084">
                <a:moveTo>
                  <a:pt x="0" y="0"/>
                </a:moveTo>
                <a:lnTo>
                  <a:pt x="5289084" y="0"/>
                </a:lnTo>
                <a:lnTo>
                  <a:pt x="5289084" y="2922219"/>
                </a:lnTo>
                <a:lnTo>
                  <a:pt x="0" y="292221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8810" y="2429578"/>
            <a:ext cx="4705466" cy="571687"/>
          </a:xfrm>
          <a:custGeom>
            <a:avLst/>
            <a:gdLst/>
            <a:ahLst/>
            <a:cxnLst/>
            <a:rect r="r" b="b" t="t" l="l"/>
            <a:pathLst>
              <a:path h="571687" w="4705466">
                <a:moveTo>
                  <a:pt x="0" y="0"/>
                </a:moveTo>
                <a:lnTo>
                  <a:pt x="4705466" y="0"/>
                </a:lnTo>
                <a:lnTo>
                  <a:pt x="4705466" y="571687"/>
                </a:lnTo>
                <a:lnTo>
                  <a:pt x="0" y="5716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-66674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5430107" y="2429578"/>
            <a:ext cx="5285216" cy="2847410"/>
          </a:xfrm>
          <a:custGeom>
            <a:avLst/>
            <a:gdLst/>
            <a:ahLst/>
            <a:cxnLst/>
            <a:rect r="r" b="b" t="t" l="l"/>
            <a:pathLst>
              <a:path h="2847410" w="5285216">
                <a:moveTo>
                  <a:pt x="0" y="0"/>
                </a:moveTo>
                <a:lnTo>
                  <a:pt x="5285216" y="0"/>
                </a:lnTo>
                <a:lnTo>
                  <a:pt x="5285216" y="2847410"/>
                </a:lnTo>
                <a:lnTo>
                  <a:pt x="0" y="284741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14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4001595" y="648658"/>
            <a:ext cx="12534623" cy="652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CR03 - IMPLEMENTAZIONE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145104" y="2430514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NESTEDBENCHMARK FILTRO PER METODI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721377" y="2001843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GENERAZIONE BENCHMARK ANNIDATI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721377" y="5765455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WRAPPER: RICONOSCIMENTO METODI 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28700" y="2001843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COMANDO CONVERTER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277916" y="3784002"/>
            <a:ext cx="6570713" cy="28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53"/>
              </a:lnSpc>
              <a:spcBef>
                <a:spcPct val="0"/>
              </a:spcBef>
            </a:pPr>
            <a:r>
              <a:rPr lang="en-US" b="true" sz="1955" spc="66">
                <a:solidFill>
                  <a:srgbClr val="FFDE59"/>
                </a:solidFill>
                <a:latin typeface="Poppins Bold"/>
                <a:ea typeface="Poppins Bold"/>
                <a:cs typeface="Poppins Bold"/>
                <a:sym typeface="Poppins Bold"/>
              </a:rPr>
              <a:t>LOGICA MERGE,OVERWRITE, BACKUP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333483" y="-5083807"/>
            <a:ext cx="11706247" cy="11706247"/>
          </a:xfrm>
          <a:custGeom>
            <a:avLst/>
            <a:gdLst/>
            <a:ahLst/>
            <a:cxnLst/>
            <a:rect r="r" b="b" t="t" l="l"/>
            <a:pathLst>
              <a:path h="11706247" w="11706247">
                <a:moveTo>
                  <a:pt x="0" y="0"/>
                </a:moveTo>
                <a:lnTo>
                  <a:pt x="11706247" y="0"/>
                </a:lnTo>
                <a:lnTo>
                  <a:pt x="11706247" y="11706247"/>
                </a:lnTo>
                <a:lnTo>
                  <a:pt x="0" y="117062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42845" y="2875690"/>
            <a:ext cx="15741814" cy="6382610"/>
            <a:chOff x="0" y="0"/>
            <a:chExt cx="4145992" cy="168101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145992" cy="1681017"/>
            </a:xfrm>
            <a:custGeom>
              <a:avLst/>
              <a:gdLst/>
              <a:ahLst/>
              <a:cxnLst/>
              <a:rect r="r" b="b" t="t" l="l"/>
              <a:pathLst>
                <a:path h="1681017" w="4145992">
                  <a:moveTo>
                    <a:pt x="8361" y="0"/>
                  </a:moveTo>
                  <a:lnTo>
                    <a:pt x="4137631" y="0"/>
                  </a:lnTo>
                  <a:cubicBezTo>
                    <a:pt x="4139848" y="0"/>
                    <a:pt x="4141975" y="881"/>
                    <a:pt x="4143543" y="2449"/>
                  </a:cubicBezTo>
                  <a:cubicBezTo>
                    <a:pt x="4145111" y="4017"/>
                    <a:pt x="4145992" y="6143"/>
                    <a:pt x="4145992" y="8361"/>
                  </a:cubicBezTo>
                  <a:lnTo>
                    <a:pt x="4145992" y="1672656"/>
                  </a:lnTo>
                  <a:cubicBezTo>
                    <a:pt x="4145992" y="1677274"/>
                    <a:pt x="4142249" y="1681017"/>
                    <a:pt x="4137631" y="1681017"/>
                  </a:cubicBezTo>
                  <a:lnTo>
                    <a:pt x="8361" y="1681017"/>
                  </a:lnTo>
                  <a:cubicBezTo>
                    <a:pt x="6143" y="1681017"/>
                    <a:pt x="4017" y="1680136"/>
                    <a:pt x="2449" y="1678568"/>
                  </a:cubicBezTo>
                  <a:cubicBezTo>
                    <a:pt x="881" y="1677000"/>
                    <a:pt x="0" y="1674874"/>
                    <a:pt x="0" y="1672656"/>
                  </a:cubicBezTo>
                  <a:lnTo>
                    <a:pt x="0" y="8361"/>
                  </a:lnTo>
                  <a:cubicBezTo>
                    <a:pt x="0" y="6143"/>
                    <a:pt x="881" y="4017"/>
                    <a:pt x="2449" y="2449"/>
                  </a:cubicBezTo>
                  <a:cubicBezTo>
                    <a:pt x="4017" y="881"/>
                    <a:pt x="6143" y="0"/>
                    <a:pt x="8361" y="0"/>
                  </a:cubicBezTo>
                  <a:close/>
                </a:path>
              </a:pathLst>
            </a:custGeom>
            <a:ln w="57150" cap="sq">
              <a:solidFill>
                <a:srgbClr val="F0F7FE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28575"/>
              <a:ext cx="4145992" cy="16524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755677" y="3662980"/>
            <a:ext cx="3814194" cy="748374"/>
            <a:chOff x="0" y="0"/>
            <a:chExt cx="1004561" cy="19710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04561" cy="197103"/>
            </a:xfrm>
            <a:custGeom>
              <a:avLst/>
              <a:gdLst/>
              <a:ahLst/>
              <a:cxnLst/>
              <a:rect r="r" b="b" t="t" l="l"/>
              <a:pathLst>
                <a:path h="197103" w="1004561">
                  <a:moveTo>
                    <a:pt x="50744" y="0"/>
                  </a:moveTo>
                  <a:lnTo>
                    <a:pt x="953817" y="0"/>
                  </a:lnTo>
                  <a:cubicBezTo>
                    <a:pt x="967275" y="0"/>
                    <a:pt x="980182" y="5346"/>
                    <a:pt x="989699" y="14863"/>
                  </a:cubicBezTo>
                  <a:cubicBezTo>
                    <a:pt x="999215" y="24379"/>
                    <a:pt x="1004561" y="37286"/>
                    <a:pt x="1004561" y="50744"/>
                  </a:cubicBezTo>
                  <a:lnTo>
                    <a:pt x="1004561" y="146359"/>
                  </a:lnTo>
                  <a:cubicBezTo>
                    <a:pt x="1004561" y="159817"/>
                    <a:pt x="999215" y="172724"/>
                    <a:pt x="989699" y="182240"/>
                  </a:cubicBezTo>
                  <a:cubicBezTo>
                    <a:pt x="980182" y="191756"/>
                    <a:pt x="967275" y="197103"/>
                    <a:pt x="953817" y="197103"/>
                  </a:cubicBezTo>
                  <a:lnTo>
                    <a:pt x="50744" y="197103"/>
                  </a:lnTo>
                  <a:cubicBezTo>
                    <a:pt x="22719" y="197103"/>
                    <a:pt x="0" y="174384"/>
                    <a:pt x="0" y="146359"/>
                  </a:cubicBezTo>
                  <a:lnTo>
                    <a:pt x="0" y="50744"/>
                  </a:lnTo>
                  <a:cubicBezTo>
                    <a:pt x="0" y="37286"/>
                    <a:pt x="5346" y="24379"/>
                    <a:pt x="14863" y="14863"/>
                  </a:cubicBezTo>
                  <a:cubicBezTo>
                    <a:pt x="24379" y="5346"/>
                    <a:pt x="37286" y="0"/>
                    <a:pt x="5074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28575"/>
              <a:ext cx="1004561" cy="1685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15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945228" y="775586"/>
            <a:ext cx="11069562" cy="652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STRATEGIA DI TESTING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143346" y="3867817"/>
            <a:ext cx="3038854" cy="307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6"/>
              </a:lnSpc>
              <a:spcBef>
                <a:spcPct val="0"/>
              </a:spcBef>
            </a:pPr>
            <a:r>
              <a:rPr lang="en-US" b="true" sz="2139" spc="72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WHITE BOX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421009" y="4698268"/>
            <a:ext cx="6483528" cy="480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  <a:spcBef>
                <a:spcPct val="0"/>
              </a:spcBef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Unit test (tramite JUnit e Mockito) per validare la manipolazione dell'AST.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6984659" y="653111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3"/>
                </a:lnTo>
                <a:lnTo>
                  <a:pt x="0" y="5492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7206655" y="6436421"/>
            <a:ext cx="3814194" cy="748374"/>
            <a:chOff x="0" y="0"/>
            <a:chExt cx="1004561" cy="19710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04561" cy="197103"/>
            </a:xfrm>
            <a:custGeom>
              <a:avLst/>
              <a:gdLst/>
              <a:ahLst/>
              <a:cxnLst/>
              <a:rect r="r" b="b" t="t" l="l"/>
              <a:pathLst>
                <a:path h="197103" w="1004561">
                  <a:moveTo>
                    <a:pt x="50744" y="0"/>
                  </a:moveTo>
                  <a:lnTo>
                    <a:pt x="953817" y="0"/>
                  </a:lnTo>
                  <a:cubicBezTo>
                    <a:pt x="967275" y="0"/>
                    <a:pt x="980182" y="5346"/>
                    <a:pt x="989699" y="14863"/>
                  </a:cubicBezTo>
                  <a:cubicBezTo>
                    <a:pt x="999215" y="24379"/>
                    <a:pt x="1004561" y="37286"/>
                    <a:pt x="1004561" y="50744"/>
                  </a:cubicBezTo>
                  <a:lnTo>
                    <a:pt x="1004561" y="146359"/>
                  </a:lnTo>
                  <a:cubicBezTo>
                    <a:pt x="1004561" y="159817"/>
                    <a:pt x="999215" y="172724"/>
                    <a:pt x="989699" y="182240"/>
                  </a:cubicBezTo>
                  <a:cubicBezTo>
                    <a:pt x="980182" y="191756"/>
                    <a:pt x="967275" y="197103"/>
                    <a:pt x="953817" y="197103"/>
                  </a:cubicBezTo>
                  <a:lnTo>
                    <a:pt x="50744" y="197103"/>
                  </a:lnTo>
                  <a:cubicBezTo>
                    <a:pt x="22719" y="197103"/>
                    <a:pt x="0" y="174384"/>
                    <a:pt x="0" y="146359"/>
                  </a:cubicBezTo>
                  <a:lnTo>
                    <a:pt x="0" y="50744"/>
                  </a:lnTo>
                  <a:cubicBezTo>
                    <a:pt x="0" y="37286"/>
                    <a:pt x="5346" y="24379"/>
                    <a:pt x="14863" y="14863"/>
                  </a:cubicBezTo>
                  <a:cubicBezTo>
                    <a:pt x="24379" y="5346"/>
                    <a:pt x="37286" y="0"/>
                    <a:pt x="5074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28575"/>
              <a:ext cx="1004561" cy="1685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669289" y="6631965"/>
            <a:ext cx="3038854" cy="307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6"/>
              </a:lnSpc>
              <a:spcBef>
                <a:spcPct val="0"/>
              </a:spcBef>
            </a:pPr>
            <a:r>
              <a:rPr lang="en-US" b="true" sz="2139" spc="72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REGRESSIONE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946952" y="7394953"/>
            <a:ext cx="6483528" cy="709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  <a:spcBef>
                <a:spcPct val="0"/>
              </a:spcBef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Essendo una modifica architetturale, abbiamo adottato una strategia Retest-All per garantire la retrocompatibilità totale con JUnit 4.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1200596" y="3662980"/>
            <a:ext cx="3814194" cy="748374"/>
            <a:chOff x="0" y="0"/>
            <a:chExt cx="1004561" cy="19710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04561" cy="197103"/>
            </a:xfrm>
            <a:custGeom>
              <a:avLst/>
              <a:gdLst/>
              <a:ahLst/>
              <a:cxnLst/>
              <a:rect r="r" b="b" t="t" l="l"/>
              <a:pathLst>
                <a:path h="197103" w="1004561">
                  <a:moveTo>
                    <a:pt x="50744" y="0"/>
                  </a:moveTo>
                  <a:lnTo>
                    <a:pt x="953817" y="0"/>
                  </a:lnTo>
                  <a:cubicBezTo>
                    <a:pt x="967275" y="0"/>
                    <a:pt x="980182" y="5346"/>
                    <a:pt x="989699" y="14863"/>
                  </a:cubicBezTo>
                  <a:cubicBezTo>
                    <a:pt x="999215" y="24379"/>
                    <a:pt x="1004561" y="37286"/>
                    <a:pt x="1004561" y="50744"/>
                  </a:cubicBezTo>
                  <a:lnTo>
                    <a:pt x="1004561" y="146359"/>
                  </a:lnTo>
                  <a:cubicBezTo>
                    <a:pt x="1004561" y="159817"/>
                    <a:pt x="999215" y="172724"/>
                    <a:pt x="989699" y="182240"/>
                  </a:cubicBezTo>
                  <a:cubicBezTo>
                    <a:pt x="980182" y="191756"/>
                    <a:pt x="967275" y="197103"/>
                    <a:pt x="953817" y="197103"/>
                  </a:cubicBezTo>
                  <a:lnTo>
                    <a:pt x="50744" y="197103"/>
                  </a:lnTo>
                  <a:cubicBezTo>
                    <a:pt x="22719" y="197103"/>
                    <a:pt x="0" y="174384"/>
                    <a:pt x="0" y="146359"/>
                  </a:cubicBezTo>
                  <a:lnTo>
                    <a:pt x="0" y="50744"/>
                  </a:lnTo>
                  <a:cubicBezTo>
                    <a:pt x="0" y="37286"/>
                    <a:pt x="5346" y="24379"/>
                    <a:pt x="14863" y="14863"/>
                  </a:cubicBezTo>
                  <a:cubicBezTo>
                    <a:pt x="24379" y="5346"/>
                    <a:pt x="37286" y="0"/>
                    <a:pt x="5074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28575"/>
              <a:ext cx="1004561" cy="1685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1588266" y="3750086"/>
            <a:ext cx="3038854" cy="583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6"/>
              </a:lnSpc>
              <a:spcBef>
                <a:spcPct val="0"/>
              </a:spcBef>
            </a:pPr>
            <a:r>
              <a:rPr lang="en-US" b="true" sz="2139" spc="72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BLACK BOX E GOLDEN SET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930173" y="4698268"/>
            <a:ext cx="6355041" cy="709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  <a:spcBef>
                <a:spcPct val="0"/>
              </a:spcBef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System test basati sul Category Partition Method per validare gli input CLI e confrontare i file generati con "Oracoli" pre-calcolati.</a:t>
            </a:r>
          </a:p>
        </p:txBody>
      </p:sp>
      <p:sp>
        <p:nvSpPr>
          <p:cNvPr name="Freeform 30" id="30"/>
          <p:cNvSpPr/>
          <p:nvPr/>
        </p:nvSpPr>
        <p:spPr>
          <a:xfrm flipH="false" flipV="false" rot="0">
            <a:off x="339885" y="242872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9" y="0"/>
                </a:lnTo>
                <a:lnTo>
                  <a:pt x="1052889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2143737" y="15146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3"/>
                </a:lnTo>
                <a:lnTo>
                  <a:pt x="0" y="12357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41224" y="3380534"/>
            <a:ext cx="11793987" cy="8856212"/>
          </a:xfrm>
          <a:custGeom>
            <a:avLst/>
            <a:gdLst/>
            <a:ahLst/>
            <a:cxnLst/>
            <a:rect r="r" b="b" t="t" l="l"/>
            <a:pathLst>
              <a:path h="8856212" w="11793987">
                <a:moveTo>
                  <a:pt x="0" y="0"/>
                </a:moveTo>
                <a:lnTo>
                  <a:pt x="11793986" y="0"/>
                </a:lnTo>
                <a:lnTo>
                  <a:pt x="11793986" y="8856212"/>
                </a:lnTo>
                <a:lnTo>
                  <a:pt x="0" y="88562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3965344" y="-299425"/>
            <a:ext cx="11706247" cy="11706247"/>
          </a:xfrm>
          <a:custGeom>
            <a:avLst/>
            <a:gdLst/>
            <a:ahLst/>
            <a:cxnLst/>
            <a:rect r="r" b="b" t="t" l="l"/>
            <a:pathLst>
              <a:path h="11706247" w="11706247">
                <a:moveTo>
                  <a:pt x="0" y="0"/>
                </a:moveTo>
                <a:lnTo>
                  <a:pt x="11706247" y="0"/>
                </a:lnTo>
                <a:lnTo>
                  <a:pt x="11706247" y="11706247"/>
                </a:lnTo>
                <a:lnTo>
                  <a:pt x="0" y="117062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7433789" y="307261"/>
            <a:ext cx="9153660" cy="2538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RISULTATI DI ESECUZIONE E REAL-WORLD TESTING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1274888" y="1342350"/>
            <a:ext cx="4607176" cy="5421018"/>
          </a:xfrm>
          <a:custGeom>
            <a:avLst/>
            <a:gdLst/>
            <a:ahLst/>
            <a:cxnLst/>
            <a:rect r="r" b="b" t="t" l="l"/>
            <a:pathLst>
              <a:path h="5421018" w="4607176">
                <a:moveTo>
                  <a:pt x="0" y="0"/>
                </a:moveTo>
                <a:lnTo>
                  <a:pt x="4607176" y="0"/>
                </a:lnTo>
                <a:lnTo>
                  <a:pt x="4607176" y="5421018"/>
                </a:lnTo>
                <a:lnTo>
                  <a:pt x="0" y="54210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097024" y="2057400"/>
            <a:ext cx="4351401" cy="8229600"/>
          </a:xfrm>
          <a:custGeom>
            <a:avLst/>
            <a:gdLst/>
            <a:ahLst/>
            <a:cxnLst/>
            <a:rect r="r" b="b" t="t" l="l"/>
            <a:pathLst>
              <a:path h="8229600" w="4351401">
                <a:moveTo>
                  <a:pt x="0" y="0"/>
                </a:moveTo>
                <a:lnTo>
                  <a:pt x="4351401" y="0"/>
                </a:lnTo>
                <a:lnTo>
                  <a:pt x="435140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16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7924023" y="4762440"/>
            <a:ext cx="3814194" cy="748374"/>
            <a:chOff x="0" y="0"/>
            <a:chExt cx="1004561" cy="19710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04561" cy="197103"/>
            </a:xfrm>
            <a:custGeom>
              <a:avLst/>
              <a:gdLst/>
              <a:ahLst/>
              <a:cxnLst/>
              <a:rect r="r" b="b" t="t" l="l"/>
              <a:pathLst>
                <a:path h="197103" w="1004561">
                  <a:moveTo>
                    <a:pt x="50744" y="0"/>
                  </a:moveTo>
                  <a:lnTo>
                    <a:pt x="953817" y="0"/>
                  </a:lnTo>
                  <a:cubicBezTo>
                    <a:pt x="967275" y="0"/>
                    <a:pt x="980182" y="5346"/>
                    <a:pt x="989699" y="14863"/>
                  </a:cubicBezTo>
                  <a:cubicBezTo>
                    <a:pt x="999215" y="24379"/>
                    <a:pt x="1004561" y="37286"/>
                    <a:pt x="1004561" y="50744"/>
                  </a:cubicBezTo>
                  <a:lnTo>
                    <a:pt x="1004561" y="146359"/>
                  </a:lnTo>
                  <a:cubicBezTo>
                    <a:pt x="1004561" y="159817"/>
                    <a:pt x="999215" y="172724"/>
                    <a:pt x="989699" y="182240"/>
                  </a:cubicBezTo>
                  <a:cubicBezTo>
                    <a:pt x="980182" y="191756"/>
                    <a:pt x="967275" y="197103"/>
                    <a:pt x="953817" y="197103"/>
                  </a:cubicBezTo>
                  <a:lnTo>
                    <a:pt x="50744" y="197103"/>
                  </a:lnTo>
                  <a:cubicBezTo>
                    <a:pt x="22719" y="197103"/>
                    <a:pt x="0" y="174384"/>
                    <a:pt x="0" y="146359"/>
                  </a:cubicBezTo>
                  <a:lnTo>
                    <a:pt x="0" y="50744"/>
                  </a:lnTo>
                  <a:cubicBezTo>
                    <a:pt x="0" y="37286"/>
                    <a:pt x="5346" y="24379"/>
                    <a:pt x="14863" y="14863"/>
                  </a:cubicBezTo>
                  <a:cubicBezTo>
                    <a:pt x="24379" y="5346"/>
                    <a:pt x="37286" y="0"/>
                    <a:pt x="5074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28575"/>
              <a:ext cx="1004561" cy="1685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8410746" y="4849545"/>
            <a:ext cx="3038854" cy="583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246"/>
              </a:lnSpc>
              <a:spcBef>
                <a:spcPct val="0"/>
              </a:spcBef>
            </a:pPr>
            <a:r>
              <a:rPr lang="en-US" b="true" sz="2139" spc="72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MIGLIORAMENTO DELLA COPERTURA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924023" y="5727622"/>
            <a:ext cx="3814194" cy="1362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41"/>
              </a:lnSpc>
              <a:spcBef>
                <a:spcPct val="0"/>
              </a:spcBef>
            </a:pPr>
            <a:r>
              <a:rPr lang="en-US" sz="2039" spc="6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La code coverage (misurata con JaCoCo) del package core è passata dal 77% (Baseline) all'81% post-modifica.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2901936" y="4762440"/>
            <a:ext cx="3814194" cy="748374"/>
            <a:chOff x="0" y="0"/>
            <a:chExt cx="1004561" cy="19710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04561" cy="197103"/>
            </a:xfrm>
            <a:custGeom>
              <a:avLst/>
              <a:gdLst/>
              <a:ahLst/>
              <a:cxnLst/>
              <a:rect r="r" b="b" t="t" l="l"/>
              <a:pathLst>
                <a:path h="197103" w="1004561">
                  <a:moveTo>
                    <a:pt x="50744" y="0"/>
                  </a:moveTo>
                  <a:lnTo>
                    <a:pt x="953817" y="0"/>
                  </a:lnTo>
                  <a:cubicBezTo>
                    <a:pt x="967275" y="0"/>
                    <a:pt x="980182" y="5346"/>
                    <a:pt x="989699" y="14863"/>
                  </a:cubicBezTo>
                  <a:cubicBezTo>
                    <a:pt x="999215" y="24379"/>
                    <a:pt x="1004561" y="37286"/>
                    <a:pt x="1004561" y="50744"/>
                  </a:cubicBezTo>
                  <a:lnTo>
                    <a:pt x="1004561" y="146359"/>
                  </a:lnTo>
                  <a:cubicBezTo>
                    <a:pt x="1004561" y="159817"/>
                    <a:pt x="999215" y="172724"/>
                    <a:pt x="989699" y="182240"/>
                  </a:cubicBezTo>
                  <a:cubicBezTo>
                    <a:pt x="980182" y="191756"/>
                    <a:pt x="967275" y="197103"/>
                    <a:pt x="953817" y="197103"/>
                  </a:cubicBezTo>
                  <a:lnTo>
                    <a:pt x="50744" y="197103"/>
                  </a:lnTo>
                  <a:cubicBezTo>
                    <a:pt x="22719" y="197103"/>
                    <a:pt x="0" y="174384"/>
                    <a:pt x="0" y="146359"/>
                  </a:cubicBezTo>
                  <a:lnTo>
                    <a:pt x="0" y="50744"/>
                  </a:lnTo>
                  <a:cubicBezTo>
                    <a:pt x="0" y="37286"/>
                    <a:pt x="5346" y="24379"/>
                    <a:pt x="14863" y="14863"/>
                  </a:cubicBezTo>
                  <a:cubicBezTo>
                    <a:pt x="24379" y="5346"/>
                    <a:pt x="37286" y="0"/>
                    <a:pt x="5074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28575"/>
              <a:ext cx="1004561" cy="1685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3214592" y="4870500"/>
            <a:ext cx="3038854" cy="541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36"/>
              </a:lnSpc>
              <a:spcBef>
                <a:spcPct val="0"/>
              </a:spcBef>
            </a:pPr>
            <a:r>
              <a:rPr lang="en-US" b="true" sz="1939" spc="65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STRESS TEST SU PROGETTI ENTERPRISE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901936" y="5727622"/>
            <a:ext cx="3685513" cy="2995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26"/>
              </a:lnSpc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Abbiamo collaudato il sistema modificato su codebase complesse:</a:t>
            </a:r>
          </a:p>
          <a:p>
            <a:pPr algn="just">
              <a:lnSpc>
                <a:spcPts val="1826"/>
              </a:lnSpc>
            </a:pPr>
          </a:p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Apache Commons Lang.</a:t>
            </a:r>
          </a:p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Byte Buddy (uso intensivo di proxy e reflection).</a:t>
            </a:r>
          </a:p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Apache Kafka (test altamente strutturati in Java 17+).</a:t>
            </a:r>
          </a:p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Risultato: Il parser non è mai andato in crash.</a:t>
            </a:r>
          </a:p>
          <a:p>
            <a:pPr algn="just">
              <a:lnSpc>
                <a:spcPts val="1826"/>
              </a:lnSpc>
              <a:spcBef>
                <a:spcPct val="0"/>
              </a:spcBef>
            </a:pP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2303639" y="106647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4" y="0"/>
                </a:lnTo>
                <a:lnTo>
                  <a:pt x="1235704" y="1235703"/>
                </a:lnTo>
                <a:lnTo>
                  <a:pt x="0" y="12357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349199" y="198055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333483" y="-5083807"/>
            <a:ext cx="11706247" cy="11706247"/>
          </a:xfrm>
          <a:custGeom>
            <a:avLst/>
            <a:gdLst/>
            <a:ahLst/>
            <a:cxnLst/>
            <a:rect r="r" b="b" t="t" l="l"/>
            <a:pathLst>
              <a:path h="11706247" w="11706247">
                <a:moveTo>
                  <a:pt x="0" y="0"/>
                </a:moveTo>
                <a:lnTo>
                  <a:pt x="11706247" y="0"/>
                </a:lnTo>
                <a:lnTo>
                  <a:pt x="11706247" y="11706247"/>
                </a:lnTo>
                <a:lnTo>
                  <a:pt x="0" y="117062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713524" y="509932"/>
            <a:ext cx="8619959" cy="9775211"/>
          </a:xfrm>
          <a:custGeom>
            <a:avLst/>
            <a:gdLst/>
            <a:ahLst/>
            <a:cxnLst/>
            <a:rect r="r" b="b" t="t" l="l"/>
            <a:pathLst>
              <a:path h="9775211" w="8619959">
                <a:moveTo>
                  <a:pt x="0" y="0"/>
                </a:moveTo>
                <a:lnTo>
                  <a:pt x="8619959" y="0"/>
                </a:lnTo>
                <a:lnTo>
                  <a:pt x="8619959" y="9775212"/>
                </a:lnTo>
                <a:lnTo>
                  <a:pt x="0" y="977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6984659" y="653111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3"/>
                </a:lnTo>
                <a:lnTo>
                  <a:pt x="0" y="5492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4439319" y="3303904"/>
            <a:ext cx="3224921" cy="6983096"/>
          </a:xfrm>
          <a:custGeom>
            <a:avLst/>
            <a:gdLst/>
            <a:ahLst/>
            <a:cxnLst/>
            <a:rect r="r" b="b" t="t" l="l"/>
            <a:pathLst>
              <a:path h="6983096" w="3224921">
                <a:moveTo>
                  <a:pt x="0" y="0"/>
                </a:moveTo>
                <a:lnTo>
                  <a:pt x="3224921" y="0"/>
                </a:lnTo>
                <a:lnTo>
                  <a:pt x="3224921" y="6983096"/>
                </a:lnTo>
                <a:lnTo>
                  <a:pt x="0" y="698309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5611086" y="2441111"/>
            <a:ext cx="2876511" cy="3228737"/>
          </a:xfrm>
          <a:custGeom>
            <a:avLst/>
            <a:gdLst/>
            <a:ahLst/>
            <a:cxnLst/>
            <a:rect r="r" b="b" t="t" l="l"/>
            <a:pathLst>
              <a:path h="3228737" w="2876511">
                <a:moveTo>
                  <a:pt x="0" y="0"/>
                </a:moveTo>
                <a:lnTo>
                  <a:pt x="2876511" y="0"/>
                </a:lnTo>
                <a:lnTo>
                  <a:pt x="2876511" y="3228736"/>
                </a:lnTo>
                <a:lnTo>
                  <a:pt x="0" y="3228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17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159055" y="2346064"/>
            <a:ext cx="7728897" cy="652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CONCLUSIONI</a:t>
            </a:r>
          </a:p>
        </p:txBody>
      </p:sp>
      <p:sp>
        <p:nvSpPr>
          <p:cNvPr name="Freeform 15" id="15"/>
          <p:cNvSpPr/>
          <p:nvPr/>
        </p:nvSpPr>
        <p:spPr>
          <a:xfrm flipH="true" flipV="false" rot="0">
            <a:off x="152247" y="3302047"/>
            <a:ext cx="3224921" cy="6983096"/>
          </a:xfrm>
          <a:custGeom>
            <a:avLst/>
            <a:gdLst/>
            <a:ahLst/>
            <a:cxnLst/>
            <a:rect r="r" b="b" t="t" l="l"/>
            <a:pathLst>
              <a:path h="6983096" w="3224921">
                <a:moveTo>
                  <a:pt x="3224921" y="0"/>
                </a:moveTo>
                <a:lnTo>
                  <a:pt x="0" y="0"/>
                </a:lnTo>
                <a:lnTo>
                  <a:pt x="0" y="6983097"/>
                </a:lnTo>
                <a:lnTo>
                  <a:pt x="3224921" y="6983097"/>
                </a:lnTo>
                <a:lnTo>
                  <a:pt x="3224921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324014" y="2439254"/>
            <a:ext cx="2876511" cy="3228737"/>
          </a:xfrm>
          <a:custGeom>
            <a:avLst/>
            <a:gdLst/>
            <a:ahLst/>
            <a:cxnLst/>
            <a:rect r="r" b="b" t="t" l="l"/>
            <a:pathLst>
              <a:path h="3228737" w="2876511">
                <a:moveTo>
                  <a:pt x="2876511" y="0"/>
                </a:moveTo>
                <a:lnTo>
                  <a:pt x="0" y="0"/>
                </a:lnTo>
                <a:lnTo>
                  <a:pt x="0" y="3228737"/>
                </a:lnTo>
                <a:lnTo>
                  <a:pt x="2876511" y="3228737"/>
                </a:lnTo>
                <a:lnTo>
                  <a:pt x="287651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5639108" y="3296458"/>
            <a:ext cx="6768791" cy="284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36"/>
              </a:lnSpc>
              <a:spcBef>
                <a:spcPct val="0"/>
              </a:spcBef>
            </a:pPr>
            <a:r>
              <a:rPr lang="en-US" b="true" sz="1939" spc="65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Obiettivi di Qualità Raggiunti: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2215438" y="7043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4" y="0"/>
                </a:lnTo>
                <a:lnTo>
                  <a:pt x="1235704" y="1235703"/>
                </a:lnTo>
                <a:lnTo>
                  <a:pt x="0" y="12357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271126" y="161842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9"/>
                </a:lnTo>
                <a:lnTo>
                  <a:pt x="0" y="105288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5382609" y="3879153"/>
            <a:ext cx="6768791" cy="25382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Abbiamo eseguito con successo il 100% della suite di test (40 test su 40 superati tra Unit, Integration e System Test).</a:t>
            </a:r>
          </a:p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Grazie alla strategia di Retest-All, abbiamo garantito l'assenza totale di regressioni: il comportamento storico su JUnit 4 è rimasto intatto.</a:t>
            </a:r>
          </a:p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La Code Coverage del modulo core (se.chalmers.ju2jmh) è aumentata dal 77% (Baseline) all'81%, superando l'obiettivo prefissato dell'80%.</a:t>
            </a:r>
          </a:p>
          <a:p>
            <a:pPr algn="just">
              <a:lnSpc>
                <a:spcPts val="1826"/>
              </a:lnSpc>
            </a:pPr>
          </a:p>
          <a:p>
            <a:pPr algn="just">
              <a:lnSpc>
                <a:spcPts val="1826"/>
              </a:lnSpc>
              <a:spcBef>
                <a:spcPct val="0"/>
              </a:spcBef>
            </a:pPr>
          </a:p>
        </p:txBody>
      </p:sp>
      <p:sp>
        <p:nvSpPr>
          <p:cNvPr name="TextBox 21" id="21"/>
          <p:cNvSpPr txBox="true"/>
          <p:nvPr/>
        </p:nvSpPr>
        <p:spPr>
          <a:xfrm rot="0">
            <a:off x="5639108" y="6398881"/>
            <a:ext cx="6768791" cy="798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36"/>
              </a:lnSpc>
            </a:pPr>
            <a:r>
              <a:rPr lang="en-US" b="true" sz="1939" spc="65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Stress Test su Progetti Reali (Real-World Validation):</a:t>
            </a:r>
          </a:p>
          <a:p>
            <a:pPr algn="just">
              <a:lnSpc>
                <a:spcPts val="2036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5382609" y="7050949"/>
            <a:ext cx="6768791" cy="25382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Il sistema non è stato testato solo su file "giocattolo", ma validato su codebase enterprise complesse: Apache Commons Lang, Byte Buddy (uso intensivo di reflection) e Apache Kafka.</a:t>
            </a:r>
          </a:p>
          <a:p>
            <a:pPr algn="just">
              <a:lnSpc>
                <a:spcPts val="1826"/>
              </a:lnSpc>
            </a:pPr>
          </a:p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L'esplorazione dell'AST si è dimostrata robusta, non andando mai in crash neanche di fronte a gerarchie profonde o classi proxy.</a:t>
            </a:r>
          </a:p>
          <a:p>
            <a:pPr algn="just">
              <a:lnSpc>
                <a:spcPts val="1826"/>
              </a:lnSpc>
            </a:pPr>
          </a:p>
          <a:p>
            <a:pPr algn="just">
              <a:lnSpc>
                <a:spcPts val="1826"/>
              </a:lnSpc>
            </a:pPr>
          </a:p>
          <a:p>
            <a:pPr algn="just">
              <a:lnSpc>
                <a:spcPts val="1826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333483" y="-5083807"/>
            <a:ext cx="11706247" cy="11706247"/>
          </a:xfrm>
          <a:custGeom>
            <a:avLst/>
            <a:gdLst/>
            <a:ahLst/>
            <a:cxnLst/>
            <a:rect r="r" b="b" t="t" l="l"/>
            <a:pathLst>
              <a:path h="11706247" w="11706247">
                <a:moveTo>
                  <a:pt x="0" y="0"/>
                </a:moveTo>
                <a:lnTo>
                  <a:pt x="11706247" y="0"/>
                </a:lnTo>
                <a:lnTo>
                  <a:pt x="11706247" y="11706247"/>
                </a:lnTo>
                <a:lnTo>
                  <a:pt x="0" y="117062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713524" y="509932"/>
            <a:ext cx="8619959" cy="9775211"/>
          </a:xfrm>
          <a:custGeom>
            <a:avLst/>
            <a:gdLst/>
            <a:ahLst/>
            <a:cxnLst/>
            <a:rect r="r" b="b" t="t" l="l"/>
            <a:pathLst>
              <a:path h="9775211" w="8619959">
                <a:moveTo>
                  <a:pt x="0" y="0"/>
                </a:moveTo>
                <a:lnTo>
                  <a:pt x="8619959" y="0"/>
                </a:lnTo>
                <a:lnTo>
                  <a:pt x="8619959" y="9775212"/>
                </a:lnTo>
                <a:lnTo>
                  <a:pt x="0" y="977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6984659" y="653111"/>
            <a:ext cx="549282" cy="549282"/>
          </a:xfrm>
          <a:custGeom>
            <a:avLst/>
            <a:gdLst/>
            <a:ahLst/>
            <a:cxnLst/>
            <a:rect r="r" b="b" t="t" l="l"/>
            <a:pathLst>
              <a:path h="549282" w="549282">
                <a:moveTo>
                  <a:pt x="0" y="0"/>
                </a:moveTo>
                <a:lnTo>
                  <a:pt x="549282" y="0"/>
                </a:lnTo>
                <a:lnTo>
                  <a:pt x="549282" y="549283"/>
                </a:lnTo>
                <a:lnTo>
                  <a:pt x="0" y="5492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4439319" y="3303904"/>
            <a:ext cx="3224921" cy="6983096"/>
          </a:xfrm>
          <a:custGeom>
            <a:avLst/>
            <a:gdLst/>
            <a:ahLst/>
            <a:cxnLst/>
            <a:rect r="r" b="b" t="t" l="l"/>
            <a:pathLst>
              <a:path h="6983096" w="3224921">
                <a:moveTo>
                  <a:pt x="0" y="0"/>
                </a:moveTo>
                <a:lnTo>
                  <a:pt x="3224921" y="0"/>
                </a:lnTo>
                <a:lnTo>
                  <a:pt x="3224921" y="6983096"/>
                </a:lnTo>
                <a:lnTo>
                  <a:pt x="0" y="698309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5611086" y="2441111"/>
            <a:ext cx="2876511" cy="3228737"/>
          </a:xfrm>
          <a:custGeom>
            <a:avLst/>
            <a:gdLst/>
            <a:ahLst/>
            <a:cxnLst/>
            <a:rect r="r" b="b" t="t" l="l"/>
            <a:pathLst>
              <a:path h="3228737" w="2876511">
                <a:moveTo>
                  <a:pt x="0" y="0"/>
                </a:moveTo>
                <a:lnTo>
                  <a:pt x="2876511" y="0"/>
                </a:lnTo>
                <a:lnTo>
                  <a:pt x="2876511" y="3228736"/>
                </a:lnTo>
                <a:lnTo>
                  <a:pt x="0" y="3228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245241" y="9751450"/>
            <a:ext cx="1684932" cy="2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18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159055" y="2346064"/>
            <a:ext cx="7728897" cy="652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b="true" sz="474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CONCLUSIONI</a:t>
            </a:r>
          </a:p>
        </p:txBody>
      </p:sp>
      <p:sp>
        <p:nvSpPr>
          <p:cNvPr name="Freeform 15" id="15"/>
          <p:cNvSpPr/>
          <p:nvPr/>
        </p:nvSpPr>
        <p:spPr>
          <a:xfrm flipH="true" flipV="false" rot="0">
            <a:off x="152247" y="3302047"/>
            <a:ext cx="3224921" cy="6983096"/>
          </a:xfrm>
          <a:custGeom>
            <a:avLst/>
            <a:gdLst/>
            <a:ahLst/>
            <a:cxnLst/>
            <a:rect r="r" b="b" t="t" l="l"/>
            <a:pathLst>
              <a:path h="6983096" w="3224921">
                <a:moveTo>
                  <a:pt x="3224921" y="0"/>
                </a:moveTo>
                <a:lnTo>
                  <a:pt x="0" y="0"/>
                </a:lnTo>
                <a:lnTo>
                  <a:pt x="0" y="6983097"/>
                </a:lnTo>
                <a:lnTo>
                  <a:pt x="3224921" y="6983097"/>
                </a:lnTo>
                <a:lnTo>
                  <a:pt x="3224921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324014" y="2439254"/>
            <a:ext cx="2876511" cy="3228737"/>
          </a:xfrm>
          <a:custGeom>
            <a:avLst/>
            <a:gdLst/>
            <a:ahLst/>
            <a:cxnLst/>
            <a:rect r="r" b="b" t="t" l="l"/>
            <a:pathLst>
              <a:path h="3228737" w="2876511">
                <a:moveTo>
                  <a:pt x="2876511" y="0"/>
                </a:moveTo>
                <a:lnTo>
                  <a:pt x="0" y="0"/>
                </a:lnTo>
                <a:lnTo>
                  <a:pt x="0" y="3228737"/>
                </a:lnTo>
                <a:lnTo>
                  <a:pt x="2876511" y="3228737"/>
                </a:lnTo>
                <a:lnTo>
                  <a:pt x="287651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5639108" y="3296458"/>
            <a:ext cx="6768791" cy="284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36"/>
              </a:lnSpc>
              <a:spcBef>
                <a:spcPct val="0"/>
              </a:spcBef>
            </a:pPr>
            <a:r>
              <a:rPr lang="en-US" b="true" sz="1939" spc="65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Evoluzione del software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2215438" y="70435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4" y="0"/>
                </a:lnTo>
                <a:lnTo>
                  <a:pt x="1235704" y="1235703"/>
                </a:lnTo>
                <a:lnTo>
                  <a:pt x="0" y="12357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271126" y="161842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9"/>
                </a:lnTo>
                <a:lnTo>
                  <a:pt x="0" y="105288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5382609" y="3879153"/>
            <a:ext cx="6768791" cy="2309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Modernizzazione: Un tool aggiornato agli standard odierni, con pieno supporto al ciclo di vita di JUnit 5 e alle sintassi Java 17+ (Project Amber).</a:t>
            </a:r>
          </a:p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Sicu</a:t>
            </a: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rezza (Zero Data Loss): L'utente ha ora il pieno controllo. La validazione Fail-Fast previene elaborazioni inutili , mentre la gestione intelligente dei conflitti (creazione di copie .bak e merge dell'AST) garantisce che nessun dato venga perso accidentalmente.</a:t>
            </a:r>
          </a:p>
          <a:p>
            <a:pPr algn="just">
              <a:lnSpc>
                <a:spcPts val="1826"/>
              </a:lnSpc>
              <a:spcBef>
                <a:spcPct val="0"/>
              </a:spcBef>
            </a:pPr>
          </a:p>
        </p:txBody>
      </p:sp>
      <p:sp>
        <p:nvSpPr>
          <p:cNvPr name="TextBox 21" id="21"/>
          <p:cNvSpPr txBox="true"/>
          <p:nvPr/>
        </p:nvSpPr>
        <p:spPr>
          <a:xfrm rot="0">
            <a:off x="5639108" y="6398881"/>
            <a:ext cx="6768791" cy="284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36"/>
              </a:lnSpc>
              <a:spcBef>
                <a:spcPct val="0"/>
              </a:spcBef>
            </a:pPr>
            <a:r>
              <a:rPr lang="en-US" b="true" sz="1939" spc="65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Valutazioni Metodologiche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382609" y="6803120"/>
            <a:ext cx="6768791" cy="25382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75627" indent="-187814" lvl="1">
              <a:lnSpc>
                <a:spcPts val="1826"/>
              </a:lnSpc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L'uso dell'Impact Analysis preventiva (tramite Call Graph e Matrici di Raggiungibilità) è stato cruciale. Ci ha permesso di non navigare "alla cieca", evidenziando fin da subito i colli di bottiglia architetturali.</a:t>
            </a:r>
          </a:p>
          <a:p>
            <a:pPr algn="just" marL="375627" indent="-187814" lvl="1">
              <a:lnSpc>
                <a:spcPts val="1826"/>
              </a:lnSpc>
              <a:spcBef>
                <a:spcPct val="0"/>
              </a:spcBef>
              <a:buFont typeface="Arial"/>
              <a:buChar char="•"/>
            </a:pPr>
            <a:r>
              <a:rPr lang="en-US" sz="1739" spc="5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Il confronto tra stime (CIS) e realtà (AIS) ci ha mostrato tangibilmente come requisiti apparentemente semplici (come il filtro sui metodi della CR03) possano nascondere un forte ripple effect (effetto a cascata) a causa di un alto accoppiamento nel codice legacy.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416186" y="1135773"/>
            <a:ext cx="6994113" cy="8229600"/>
          </a:xfrm>
          <a:custGeom>
            <a:avLst/>
            <a:gdLst/>
            <a:ahLst/>
            <a:cxnLst/>
            <a:rect r="r" b="b" t="t" l="l"/>
            <a:pathLst>
              <a:path h="8229600" w="6994113">
                <a:moveTo>
                  <a:pt x="0" y="0"/>
                </a:moveTo>
                <a:lnTo>
                  <a:pt x="6994113" y="0"/>
                </a:lnTo>
                <a:lnTo>
                  <a:pt x="699411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65251" y="-1543050"/>
            <a:ext cx="4199655" cy="3086100"/>
            <a:chOff x="0" y="0"/>
            <a:chExt cx="1106082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06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6082">
                  <a:moveTo>
                    <a:pt x="46087" y="0"/>
                  </a:moveTo>
                  <a:lnTo>
                    <a:pt x="1059995" y="0"/>
                  </a:lnTo>
                  <a:cubicBezTo>
                    <a:pt x="1072218" y="0"/>
                    <a:pt x="1083941" y="4856"/>
                    <a:pt x="1092584" y="13498"/>
                  </a:cubicBezTo>
                  <a:cubicBezTo>
                    <a:pt x="1101226" y="22141"/>
                    <a:pt x="1106082" y="33864"/>
                    <a:pt x="1106082" y="46087"/>
                  </a:cubicBezTo>
                  <a:lnTo>
                    <a:pt x="1106082" y="766713"/>
                  </a:lnTo>
                  <a:cubicBezTo>
                    <a:pt x="1106082" y="778936"/>
                    <a:pt x="1101226" y="790659"/>
                    <a:pt x="1092584" y="799302"/>
                  </a:cubicBezTo>
                  <a:cubicBezTo>
                    <a:pt x="1083941" y="807944"/>
                    <a:pt x="1072218" y="812800"/>
                    <a:pt x="1059995" y="812800"/>
                  </a:cubicBezTo>
                  <a:lnTo>
                    <a:pt x="46087" y="812800"/>
                  </a:lnTo>
                  <a:cubicBezTo>
                    <a:pt x="33864" y="812800"/>
                    <a:pt x="22141" y="807944"/>
                    <a:pt x="13498" y="799302"/>
                  </a:cubicBezTo>
                  <a:cubicBezTo>
                    <a:pt x="4856" y="790659"/>
                    <a:pt x="0" y="778936"/>
                    <a:pt x="0" y="766713"/>
                  </a:cubicBezTo>
                  <a:lnTo>
                    <a:pt x="0" y="46087"/>
                  </a:lnTo>
                  <a:cubicBezTo>
                    <a:pt x="0" y="33864"/>
                    <a:pt x="4856" y="22141"/>
                    <a:pt x="13498" y="13498"/>
                  </a:cubicBezTo>
                  <a:cubicBezTo>
                    <a:pt x="22141" y="4856"/>
                    <a:pt x="33864" y="0"/>
                    <a:pt x="460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28575"/>
              <a:ext cx="1106082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7600950" y="9365373"/>
            <a:ext cx="3086100" cy="308610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2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3762244" y="2186245"/>
            <a:ext cx="6994113" cy="8229600"/>
          </a:xfrm>
          <a:custGeom>
            <a:avLst/>
            <a:gdLst/>
            <a:ahLst/>
            <a:cxnLst/>
            <a:rect r="r" b="b" t="t" l="l"/>
            <a:pathLst>
              <a:path h="8229600" w="6994113">
                <a:moveTo>
                  <a:pt x="0" y="0"/>
                </a:moveTo>
                <a:lnTo>
                  <a:pt x="6994112" y="0"/>
                </a:lnTo>
                <a:lnTo>
                  <a:pt x="699411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28700" y="1653955"/>
            <a:ext cx="16514364" cy="7086163"/>
          </a:xfrm>
          <a:custGeom>
            <a:avLst/>
            <a:gdLst/>
            <a:ahLst/>
            <a:cxnLst/>
            <a:rect r="r" b="b" t="t" l="l"/>
            <a:pathLst>
              <a:path h="7086163" w="16514364">
                <a:moveTo>
                  <a:pt x="0" y="0"/>
                </a:moveTo>
                <a:lnTo>
                  <a:pt x="16514364" y="0"/>
                </a:lnTo>
                <a:lnTo>
                  <a:pt x="16514364" y="7086163"/>
                </a:lnTo>
                <a:lnTo>
                  <a:pt x="0" y="70861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8245241" y="9751450"/>
            <a:ext cx="1684932" cy="461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b="true" sz="1739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AMBER BENE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108024" y="4163770"/>
            <a:ext cx="11959365" cy="17258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705"/>
              </a:lnSpc>
            </a:pPr>
            <a:r>
              <a:rPr lang="en-US" b="true" sz="10195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GRAZIE!</a:t>
            </a:r>
          </a:p>
          <a:p>
            <a:pPr algn="ctr">
              <a:lnSpc>
                <a:spcPts val="3145"/>
              </a:lnSpc>
            </a:pPr>
            <a:r>
              <a:rPr lang="en-US" b="true" sz="2996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PULL REQUEST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370932" y="232051"/>
            <a:ext cx="1052888" cy="1052888"/>
          </a:xfrm>
          <a:custGeom>
            <a:avLst/>
            <a:gdLst/>
            <a:ahLst/>
            <a:cxnLst/>
            <a:rect r="r" b="b" t="t" l="l"/>
            <a:pathLst>
              <a:path h="1052888" w="1052888">
                <a:moveTo>
                  <a:pt x="0" y="0"/>
                </a:moveTo>
                <a:lnTo>
                  <a:pt x="1052888" y="0"/>
                </a:lnTo>
                <a:lnTo>
                  <a:pt x="1052888" y="1052888"/>
                </a:lnTo>
                <a:lnTo>
                  <a:pt x="0" y="10528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2208844" y="140643"/>
            <a:ext cx="1235703" cy="1235703"/>
          </a:xfrm>
          <a:custGeom>
            <a:avLst/>
            <a:gdLst/>
            <a:ahLst/>
            <a:cxnLst/>
            <a:rect r="r" b="b" t="t" l="l"/>
            <a:pathLst>
              <a:path h="1235703" w="1235703">
                <a:moveTo>
                  <a:pt x="0" y="0"/>
                </a:moveTo>
                <a:lnTo>
                  <a:pt x="1235703" y="0"/>
                </a:lnTo>
                <a:lnTo>
                  <a:pt x="1235703" y="1235704"/>
                </a:lnTo>
                <a:lnTo>
                  <a:pt x="0" y="12357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DAHCz3ulGzQ</dc:identifier>
  <dcterms:modified xsi:type="dcterms:W3CDTF">2011-08-01T06:04:30Z</dcterms:modified>
  <cp:revision>1</cp:revision>
  <dc:title>Green and Blue Futuristic Technology Computer Science Presentation</dc:title>
</cp:coreProperties>
</file>