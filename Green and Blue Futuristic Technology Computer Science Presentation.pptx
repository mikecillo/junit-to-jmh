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T Lakes Neue Expanded Bold" charset="1" panose="02010001040000080307"/>
      <p:regular r:id="rId26"/>
    </p:embeddedFon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jpe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jpeg" Type="http://schemas.openxmlformats.org/officeDocument/2006/relationships/image"/><Relationship Id="rId12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jpeg" Type="http://schemas.openxmlformats.org/officeDocument/2006/relationships/image"/><Relationship Id="rId14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9.png" Type="http://schemas.openxmlformats.org/officeDocument/2006/relationships/image"/><Relationship Id="rId8" Target="../media/image15.pn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5.png" Type="http://schemas.openxmlformats.org/officeDocument/2006/relationships/image"/><Relationship Id="rId13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5.png" Type="http://schemas.openxmlformats.org/officeDocument/2006/relationships/image"/><Relationship Id="rId13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3811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863" y="1483113"/>
            <a:ext cx="16992275" cy="7291231"/>
          </a:xfrm>
          <a:custGeom>
            <a:avLst/>
            <a:gdLst/>
            <a:ahLst/>
            <a:cxnLst/>
            <a:rect r="r" b="b" t="t" l="l"/>
            <a:pathLst>
              <a:path h="7291231" w="16992275">
                <a:moveTo>
                  <a:pt x="0" y="0"/>
                </a:moveTo>
                <a:lnTo>
                  <a:pt x="16992274" y="0"/>
                </a:lnTo>
                <a:lnTo>
                  <a:pt x="16992274" y="7291230"/>
                </a:lnTo>
                <a:lnTo>
                  <a:pt x="0" y="729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98753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1" y="0"/>
                </a:lnTo>
                <a:lnTo>
                  <a:pt x="4292361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37379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9" y="0"/>
                </a:lnTo>
                <a:lnTo>
                  <a:pt x="5522749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55865" y="5128728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71668" y="1963445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3281372"/>
            <a:ext cx="11518422" cy="318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5"/>
              </a:lnSpc>
            </a:pPr>
            <a:r>
              <a:rPr lang="en-US" sz="5948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EVOLUZIONE E REFACTORING DEL FRAMEWORK JUNIT-TO-JMH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0332" y="7776184"/>
            <a:ext cx="5297759" cy="23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739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MICHELE CILLO NF22500124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0332" y="8213120"/>
            <a:ext cx="5297759" cy="23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739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BENITO PIGNA   NF22500110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1581126"/>
            <a:ext cx="931601" cy="931601"/>
          </a:xfrm>
          <a:custGeom>
            <a:avLst/>
            <a:gdLst/>
            <a:ahLst/>
            <a:cxnLst/>
            <a:rect r="r" b="b" t="t" l="l"/>
            <a:pathLst>
              <a:path h="931601" w="931601">
                <a:moveTo>
                  <a:pt x="0" y="0"/>
                </a:moveTo>
                <a:lnTo>
                  <a:pt x="931601" y="0"/>
                </a:lnTo>
                <a:lnTo>
                  <a:pt x="931601" y="931601"/>
                </a:lnTo>
                <a:lnTo>
                  <a:pt x="0" y="931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23362" y="1505100"/>
            <a:ext cx="1083652" cy="1083652"/>
          </a:xfrm>
          <a:custGeom>
            <a:avLst/>
            <a:gdLst/>
            <a:ahLst/>
            <a:cxnLst/>
            <a:rect r="r" b="b" t="t" l="l"/>
            <a:pathLst>
              <a:path h="1083652" w="1083652">
                <a:moveTo>
                  <a:pt x="0" y="0"/>
                </a:moveTo>
                <a:lnTo>
                  <a:pt x="1083653" y="0"/>
                </a:lnTo>
                <a:lnTo>
                  <a:pt x="1083653" y="1083653"/>
                </a:lnTo>
                <a:lnTo>
                  <a:pt x="0" y="10836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04799" y="-4310074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8" y="0"/>
                </a:lnTo>
                <a:lnTo>
                  <a:pt x="11706248" y="11706248"/>
                </a:lnTo>
                <a:lnTo>
                  <a:pt x="0" y="11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7033" y="1373083"/>
            <a:ext cx="6765661" cy="7672399"/>
          </a:xfrm>
          <a:custGeom>
            <a:avLst/>
            <a:gdLst/>
            <a:ahLst/>
            <a:cxnLst/>
            <a:rect r="r" b="b" t="t" l="l"/>
            <a:pathLst>
              <a:path h="7672399" w="6765661">
                <a:moveTo>
                  <a:pt x="0" y="0"/>
                </a:moveTo>
                <a:lnTo>
                  <a:pt x="6765661" y="0"/>
                </a:lnTo>
                <a:lnTo>
                  <a:pt x="6765661" y="7672399"/>
                </a:lnTo>
                <a:lnTo>
                  <a:pt x="0" y="767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3754" y="1585901"/>
            <a:ext cx="6765661" cy="7672399"/>
          </a:xfrm>
          <a:custGeom>
            <a:avLst/>
            <a:gdLst/>
            <a:ahLst/>
            <a:cxnLst/>
            <a:rect r="r" b="b" t="t" l="l"/>
            <a:pathLst>
              <a:path h="7672399" w="6765661">
                <a:moveTo>
                  <a:pt x="0" y="0"/>
                </a:moveTo>
                <a:lnTo>
                  <a:pt x="6765660" y="0"/>
                </a:lnTo>
                <a:lnTo>
                  <a:pt x="6765660" y="7672399"/>
                </a:lnTo>
                <a:lnTo>
                  <a:pt x="0" y="767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266984" y="2112846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03256" y="5592480"/>
            <a:ext cx="3891704" cy="3453002"/>
          </a:xfrm>
          <a:custGeom>
            <a:avLst/>
            <a:gdLst/>
            <a:ahLst/>
            <a:cxnLst/>
            <a:rect r="r" b="b" t="t" l="l"/>
            <a:pathLst>
              <a:path h="3453002" w="3891704">
                <a:moveTo>
                  <a:pt x="0" y="0"/>
                </a:moveTo>
                <a:lnTo>
                  <a:pt x="3891703" y="0"/>
                </a:lnTo>
                <a:lnTo>
                  <a:pt x="3891703" y="3453002"/>
                </a:lnTo>
                <a:lnTo>
                  <a:pt x="0" y="3453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30010" y="542210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833" y="182815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67553" y="914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61062" y="3299314"/>
            <a:ext cx="6131043" cy="57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b="true" sz="4025" spc="-44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INTRODUZIONE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9200" y="3053045"/>
            <a:ext cx="6581326" cy="103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124" indent="-274062" lvl="1">
              <a:lnSpc>
                <a:spcPts val="2665"/>
              </a:lnSpc>
              <a:buFont typeface="Arial"/>
              <a:buChar char="•"/>
            </a:pPr>
            <a:r>
              <a:rPr lang="en-US" sz="2538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538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u2jmh è un tool Java che converte automaticamente classi di test JUnit 4 in classi di benchmark JMH.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9200" y="4855284"/>
            <a:ext cx="6767759" cy="137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7" indent="-274193" lvl="1">
              <a:lnSpc>
                <a:spcPts val="2667"/>
              </a:lnSpc>
              <a:buFont typeface="Arial"/>
              <a:buChar char="•"/>
            </a:pPr>
            <a:r>
              <a:rPr lang="en-US" sz="2540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L'obiettivo originale del tool è facilitare la creazione di microbenchmark per le prestazioni partendo da test unitari.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9200" y="7115091"/>
            <a:ext cx="6435250" cy="137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7" indent="-274193" lvl="1">
              <a:lnSpc>
                <a:spcPts val="2667"/>
              </a:lnSpc>
              <a:buFont typeface="Arial"/>
              <a:buChar char="•"/>
            </a:pPr>
            <a:r>
              <a:rPr lang="en-US" sz="2540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Colma il gap tra il Functional Testing (correttezza del codice) e il Performance Testing (efficienza e misurazione).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02884" y="1543050"/>
            <a:ext cx="8776139" cy="9617687"/>
          </a:xfrm>
          <a:custGeom>
            <a:avLst/>
            <a:gdLst/>
            <a:ahLst/>
            <a:cxnLst/>
            <a:rect r="r" b="b" t="t" l="l"/>
            <a:pathLst>
              <a:path h="9617687" w="8776139">
                <a:moveTo>
                  <a:pt x="0" y="0"/>
                </a:moveTo>
                <a:lnTo>
                  <a:pt x="8776140" y="0"/>
                </a:lnTo>
                <a:lnTo>
                  <a:pt x="8776140" y="9617687"/>
                </a:lnTo>
                <a:lnTo>
                  <a:pt x="0" y="96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68259" y="2636395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0041" y="1700332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3802" y="2291125"/>
            <a:ext cx="5867677" cy="13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b="true" sz="32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IL SISTEMA ORIGINALE  E LE SUE LIMITAZIONI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416432"/>
            <a:ext cx="6572250" cy="93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1"/>
              </a:lnSpc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sistema presentava tre limitazioni tecniche critiche:</a:t>
            </a:r>
          </a:p>
          <a:p>
            <a:pPr algn="just">
              <a:lnSpc>
                <a:spcPts val="203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30041" y="5363023"/>
            <a:ext cx="6572250" cy="487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Accoppiamento rigido e supporto esclusivo a JUnit 4. (CR01)</a:t>
            </a: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456"/>
              </a:lnSpc>
            </a:pPr>
          </a:p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Mancanza di granularità: il tool   convertiva interamente la classe JUnit, senza permettere la selezione di singoli metodi. (CR02)</a:t>
            </a: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561"/>
              </a:lnSpc>
            </a:pPr>
          </a:p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Gestione distruttiva dell'I/O: la conversione sovrascriveva e svuotava i file JMH precedentemente generati. (CR03)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60683" y="160116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10516" y="687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10018" y="287848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22127" y="2012941"/>
            <a:ext cx="7778462" cy="8524342"/>
          </a:xfrm>
          <a:custGeom>
            <a:avLst/>
            <a:gdLst/>
            <a:ahLst/>
            <a:cxnLst/>
            <a:rect r="r" b="b" t="t" l="l"/>
            <a:pathLst>
              <a:path h="8524342" w="7778462">
                <a:moveTo>
                  <a:pt x="0" y="0"/>
                </a:moveTo>
                <a:lnTo>
                  <a:pt x="7778462" y="0"/>
                </a:lnTo>
                <a:lnTo>
                  <a:pt x="7778462" y="8524342"/>
                </a:lnTo>
                <a:lnTo>
                  <a:pt x="0" y="852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14301" y="562489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19155" y="3485928"/>
            <a:ext cx="3320977" cy="2946612"/>
          </a:xfrm>
          <a:custGeom>
            <a:avLst/>
            <a:gdLst/>
            <a:ahLst/>
            <a:cxnLst/>
            <a:rect r="r" b="b" t="t" l="l"/>
            <a:pathLst>
              <a:path h="2946612" w="3320977">
                <a:moveTo>
                  <a:pt x="0" y="0"/>
                </a:moveTo>
                <a:lnTo>
                  <a:pt x="3320977" y="0"/>
                </a:lnTo>
                <a:lnTo>
                  <a:pt x="3320977" y="2946613"/>
                </a:lnTo>
                <a:lnTo>
                  <a:pt x="0" y="2946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4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0041" y="1700332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3802" y="2291125"/>
            <a:ext cx="5867677" cy="13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b="true" sz="32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IL SISTEMA ORIGINALE  E LE SUE LIMITAZIONI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683" y="4305748"/>
            <a:ext cx="9370689" cy="472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Forte Accoppiamento Architetturale: 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Supporto esclusivo al framework legacy JUnit 4. Nessu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 compatibilità con l'architettura modulare di JUnit 5 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Obsolescenza Sintattica dell'AST: 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parser originale generava errori imbattendosi in codice Java moderno 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Granularità Grossolana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Impossibilità di selezionare singoli metodi di test.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Spreco di Risorse Computazionali: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Eseguire benchmark JMH su test irrilevanti dilatava enormemente i tempi di esecuzione e l'uso di CPU/RAM.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Rischi di Data Loss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Assenza di politiche di Conflict Resolution per la sovrascrittura sicura dei file generati.</a:t>
            </a:r>
          </a:p>
          <a:p>
            <a:pPr algn="just">
              <a:lnSpc>
                <a:spcPts val="2246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0683" y="160116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10516" y="687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10018" y="287848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83619" y="1543050"/>
            <a:ext cx="10611757" cy="9782111"/>
          </a:xfrm>
          <a:custGeom>
            <a:avLst/>
            <a:gdLst/>
            <a:ahLst/>
            <a:cxnLst/>
            <a:rect r="r" b="b" t="t" l="l"/>
            <a:pathLst>
              <a:path h="9782111" w="10611757">
                <a:moveTo>
                  <a:pt x="0" y="0"/>
                </a:moveTo>
                <a:lnTo>
                  <a:pt x="10611758" y="0"/>
                </a:lnTo>
                <a:lnTo>
                  <a:pt x="10611758" y="9782111"/>
                </a:lnTo>
                <a:lnTo>
                  <a:pt x="0" y="9782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062196" y="1351079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4696" y="2463304"/>
            <a:ext cx="4950393" cy="7521315"/>
          </a:xfrm>
          <a:custGeom>
            <a:avLst/>
            <a:gdLst/>
            <a:ahLst/>
            <a:cxnLst/>
            <a:rect r="r" b="b" t="t" l="l"/>
            <a:pathLst>
              <a:path h="7521315" w="4950393">
                <a:moveTo>
                  <a:pt x="0" y="0"/>
                </a:moveTo>
                <a:lnTo>
                  <a:pt x="4950393" y="0"/>
                </a:lnTo>
                <a:lnTo>
                  <a:pt x="4950393" y="7521315"/>
                </a:lnTo>
                <a:lnTo>
                  <a:pt x="0" y="7521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3980" y="2655858"/>
            <a:ext cx="3665913" cy="4114800"/>
          </a:xfrm>
          <a:custGeom>
            <a:avLst/>
            <a:gdLst/>
            <a:ahLst/>
            <a:cxnLst/>
            <a:rect r="r" b="b" t="t" l="l"/>
            <a:pathLst>
              <a:path h="4114800" w="3665913">
                <a:moveTo>
                  <a:pt x="0" y="0"/>
                </a:moveTo>
                <a:lnTo>
                  <a:pt x="3665912" y="0"/>
                </a:lnTo>
                <a:lnTo>
                  <a:pt x="3665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2912" y="2362109"/>
            <a:ext cx="9401747" cy="65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LE CHANGE REQUEST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0950" y="3277082"/>
            <a:ext cx="8114095" cy="467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6"/>
              </a:lnSpc>
            </a:pP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pianificato tre interventi mirati:</a:t>
            </a: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CR01 (Manutenzione Evolutiva):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Supporto a JUnit 5 (riconoscimento e conversione delle nuove annotazioni).</a:t>
            </a:r>
          </a:p>
          <a:p>
            <a:pPr algn="just">
              <a:lnSpc>
                <a:spcPts val="2456"/>
              </a:lnSpc>
            </a:pP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CR02 (Manutenzione Adattiva):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Integrazione Project AMBER. Aggiornamento del parser per supportare il livello linguistico Java 17/21.</a:t>
            </a:r>
          </a:p>
          <a:p>
            <a:pPr algn="just">
              <a:lnSpc>
                <a:spcPts val="2456"/>
              </a:lnSpc>
            </a:pP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CR03 (Manutenzione Perfettiva)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Controllo di granularità sui metodi scelti dall'utente.</a:t>
            </a:r>
          </a:p>
          <a:p>
            <a:pPr algn="just">
              <a:lnSpc>
                <a:spcPts val="2771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5534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87817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87661" y="7108128"/>
            <a:ext cx="19889989" cy="8313610"/>
          </a:xfrm>
          <a:custGeom>
            <a:avLst/>
            <a:gdLst/>
            <a:ahLst/>
            <a:cxnLst/>
            <a:rect r="r" b="b" t="t" l="l"/>
            <a:pathLst>
              <a:path h="8313610" w="19889989">
                <a:moveTo>
                  <a:pt x="0" y="0"/>
                </a:moveTo>
                <a:lnTo>
                  <a:pt x="19889989" y="0"/>
                </a:lnTo>
                <a:lnTo>
                  <a:pt x="19889989" y="8313610"/>
                </a:lnTo>
                <a:lnTo>
                  <a:pt x="0" y="831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8944" y="2952088"/>
            <a:ext cx="3814194" cy="748374"/>
            <a:chOff x="0" y="0"/>
            <a:chExt cx="1004561" cy="197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33955" y="2952088"/>
            <a:ext cx="3814194" cy="748374"/>
            <a:chOff x="0" y="0"/>
            <a:chExt cx="1004561" cy="197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68965" y="2989286"/>
            <a:ext cx="4199461" cy="748374"/>
            <a:chOff x="0" y="0"/>
            <a:chExt cx="1106031" cy="197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031" cy="197103"/>
            </a:xfrm>
            <a:custGeom>
              <a:avLst/>
              <a:gdLst/>
              <a:ahLst/>
              <a:cxnLst/>
              <a:rect r="r" b="b" t="t" l="l"/>
              <a:pathLst>
                <a:path h="197103" w="1106031">
                  <a:moveTo>
                    <a:pt x="46089" y="0"/>
                  </a:moveTo>
                  <a:lnTo>
                    <a:pt x="1059942" y="0"/>
                  </a:lnTo>
                  <a:cubicBezTo>
                    <a:pt x="1085396" y="0"/>
                    <a:pt x="1106031" y="20635"/>
                    <a:pt x="1106031" y="46089"/>
                  </a:cubicBezTo>
                  <a:lnTo>
                    <a:pt x="1106031" y="151014"/>
                  </a:lnTo>
                  <a:cubicBezTo>
                    <a:pt x="1106031" y="176468"/>
                    <a:pt x="1085396" y="197103"/>
                    <a:pt x="1059942" y="197103"/>
                  </a:cubicBezTo>
                  <a:lnTo>
                    <a:pt x="46089" y="197103"/>
                  </a:lnTo>
                  <a:cubicBezTo>
                    <a:pt x="20635" y="197103"/>
                    <a:pt x="0" y="176468"/>
                    <a:pt x="0" y="151014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10603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54761" y="259150"/>
            <a:ext cx="10793017" cy="190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METODOLOGIA DI IMPACT ANALYSIS</a:t>
            </a:r>
          </a:p>
          <a:p>
            <a:pPr algn="ctr">
              <a:lnSpc>
                <a:spcPts val="497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98944" y="4186237"/>
            <a:ext cx="4348950" cy="238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direttamente (o inizialmente) coinvolte dalla Change Request.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2151" y="3123014"/>
            <a:ext cx="3038854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80905" y="4186237"/>
            <a:ext cx="4563095" cy="19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potenzialmente colpite a livello indiretto.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21625" y="3123014"/>
            <a:ext cx="3038854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CIS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29056" y="4158236"/>
            <a:ext cx="4563095" cy="19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realmente modificate durante l'implementazione.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93811" y="3123014"/>
            <a:ext cx="3552803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AIS</a:t>
            </a:r>
          </a:p>
        </p:txBody>
      </p:sp>
      <p:sp>
        <p:nvSpPr>
          <p:cNvPr name="Freeform 26" id="26"/>
          <p:cNvSpPr/>
          <p:nvPr/>
        </p:nvSpPr>
        <p:spPr>
          <a:xfrm flipH="false" flipV="true" rot="0">
            <a:off x="13292151" y="-2989286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2"/>
                </a:moveTo>
                <a:lnTo>
                  <a:pt x="5081025" y="5978572"/>
                </a:lnTo>
                <a:lnTo>
                  <a:pt x="5081025" y="0"/>
                </a:lnTo>
                <a:lnTo>
                  <a:pt x="0" y="0"/>
                </a:lnTo>
                <a:lnTo>
                  <a:pt x="0" y="597857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76628" y="8505949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3" y="0"/>
                </a:lnTo>
                <a:lnTo>
                  <a:pt x="549283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999962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58594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554761" y="1861670"/>
            <a:ext cx="10986110" cy="62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  <a:spcBef>
                <a:spcPct val="0"/>
              </a:spcBef>
            </a:pPr>
            <a:r>
              <a:rPr lang="en-US" sz="2239" spc="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Prima di modificare il codice, abbiamo effettuato un'analisi statica e costruito Call Graph e Matrici di raggiungibilità.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192277" y="2952088"/>
            <a:ext cx="4199461" cy="748374"/>
            <a:chOff x="0" y="0"/>
            <a:chExt cx="1106031" cy="1971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6031" cy="197103"/>
            </a:xfrm>
            <a:custGeom>
              <a:avLst/>
              <a:gdLst/>
              <a:ahLst/>
              <a:cxnLst/>
              <a:rect r="r" b="b" t="t" l="l"/>
              <a:pathLst>
                <a:path h="197103" w="1106031">
                  <a:moveTo>
                    <a:pt x="46089" y="0"/>
                  </a:moveTo>
                  <a:lnTo>
                    <a:pt x="1059942" y="0"/>
                  </a:lnTo>
                  <a:cubicBezTo>
                    <a:pt x="1085396" y="0"/>
                    <a:pt x="1106031" y="20635"/>
                    <a:pt x="1106031" y="46089"/>
                  </a:cubicBezTo>
                  <a:lnTo>
                    <a:pt x="1106031" y="151014"/>
                  </a:lnTo>
                  <a:cubicBezTo>
                    <a:pt x="1106031" y="176468"/>
                    <a:pt x="1085396" y="197103"/>
                    <a:pt x="1059942" y="197103"/>
                  </a:cubicBezTo>
                  <a:lnTo>
                    <a:pt x="46089" y="197103"/>
                  </a:lnTo>
                  <a:cubicBezTo>
                    <a:pt x="20635" y="197103"/>
                    <a:pt x="0" y="176468"/>
                    <a:pt x="0" y="151014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110603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515606" y="3123014"/>
            <a:ext cx="3552803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DIS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92151" y="4186237"/>
            <a:ext cx="4563095" cy="159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Componenti non previste inizialmente ma risultate impattate in corso d'opera.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697895"/>
            <a:ext cx="10793017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SUPPORTO A JUNIT 5 (MANUTENZIONE EVOLUTIVA)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108455"/>
            <a:ext cx="12639973" cy="135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Riconoscere, parsare e convertire le annotazioni dell'architettura JUnit 5 per supportare le annotazioni moderne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5307" y="3031534"/>
            <a:ext cx="5195563" cy="3844717"/>
          </a:xfrm>
          <a:custGeom>
            <a:avLst/>
            <a:gdLst/>
            <a:ahLst/>
            <a:cxnLst/>
            <a:rect r="r" b="b" t="t" l="l"/>
            <a:pathLst>
              <a:path h="3844717" w="5195563">
                <a:moveTo>
                  <a:pt x="0" y="0"/>
                </a:moveTo>
                <a:lnTo>
                  <a:pt x="5195563" y="0"/>
                </a:lnTo>
                <a:lnTo>
                  <a:pt x="5195563" y="3844717"/>
                </a:lnTo>
                <a:lnTo>
                  <a:pt x="0" y="38447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IMPACT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61565" y="2420990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58810" y="2598146"/>
            <a:ext cx="11598547" cy="3621223"/>
            <a:chOff x="0" y="0"/>
            <a:chExt cx="3054761" cy="9537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32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just">
              <a:lnSpc>
                <a:spcPts val="2282"/>
              </a:lnSpc>
            </a:pP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98810" y="2745438"/>
            <a:ext cx="12286497" cy="346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{InputClassRepository, NestedBenchmarkSuiteBuilder}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{Converter, InputClassRepository, NestedBenchmarkSuiteBuilder}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NestedBenchmarkSuiteBuilder, WrapperBenchmarkFactory, build.gradle, class_template, method_template}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{InputClassRepository}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{WrapperBenchmarkFactory, build.gradle, class_template, method_template}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58810" y="5936488"/>
            <a:ext cx="12021960" cy="212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≈0.66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≈0.33 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810" y="6299583"/>
            <a:ext cx="4632332" cy="3359228"/>
            <a:chOff x="0" y="0"/>
            <a:chExt cx="1220038" cy="8847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38" cy="884735"/>
            </a:xfrm>
            <a:custGeom>
              <a:avLst/>
              <a:gdLst/>
              <a:ahLst/>
              <a:cxnLst/>
              <a:rect r="r" b="b" t="t" l="l"/>
              <a:pathLst>
                <a:path h="884735" w="1220038">
                  <a:moveTo>
                    <a:pt x="0" y="0"/>
                  </a:moveTo>
                  <a:lnTo>
                    <a:pt x="1220038" y="0"/>
                  </a:lnTo>
                  <a:lnTo>
                    <a:pt x="1220038" y="884735"/>
                  </a:lnTo>
                  <a:lnTo>
                    <a:pt x="0" y="88473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220038" cy="856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25026" y="4775702"/>
            <a:ext cx="8003855" cy="2106089"/>
            <a:chOff x="0" y="0"/>
            <a:chExt cx="2108011" cy="554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011" cy="554690"/>
            </a:xfrm>
            <a:custGeom>
              <a:avLst/>
              <a:gdLst/>
              <a:ahLst/>
              <a:cxnLst/>
              <a:rect r="r" b="b" t="t" l="l"/>
              <a:pathLst>
                <a:path h="554690" w="2108011">
                  <a:moveTo>
                    <a:pt x="0" y="0"/>
                  </a:moveTo>
                  <a:lnTo>
                    <a:pt x="2108011" y="0"/>
                  </a:lnTo>
                  <a:lnTo>
                    <a:pt x="2108011" y="554690"/>
                  </a:lnTo>
                  <a:lnTo>
                    <a:pt x="0" y="5546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08011" cy="52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18810" y="1898487"/>
            <a:ext cx="7282140" cy="4088920"/>
            <a:chOff x="0" y="0"/>
            <a:chExt cx="1917930" cy="10769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7930" cy="1076917"/>
            </a:xfrm>
            <a:custGeom>
              <a:avLst/>
              <a:gdLst/>
              <a:ahLst/>
              <a:cxnLst/>
              <a:rect r="r" b="b" t="t" l="l"/>
              <a:pathLst>
                <a:path h="1076917" w="1917930">
                  <a:moveTo>
                    <a:pt x="0" y="0"/>
                  </a:moveTo>
                  <a:lnTo>
                    <a:pt x="1917930" y="0"/>
                  </a:lnTo>
                  <a:lnTo>
                    <a:pt x="1917930" y="1076917"/>
                  </a:lnTo>
                  <a:lnTo>
                    <a:pt x="0" y="1076917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917930" cy="1048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12168" y="1986384"/>
            <a:ext cx="9147132" cy="2617868"/>
            <a:chOff x="0" y="0"/>
            <a:chExt cx="2409121" cy="689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09121" cy="689480"/>
            </a:xfrm>
            <a:custGeom>
              <a:avLst/>
              <a:gdLst/>
              <a:ahLst/>
              <a:cxnLst/>
              <a:rect r="r" b="b" t="t" l="l"/>
              <a:pathLst>
                <a:path h="689480" w="2409121">
                  <a:moveTo>
                    <a:pt x="0" y="0"/>
                  </a:moveTo>
                  <a:lnTo>
                    <a:pt x="2409121" y="0"/>
                  </a:lnTo>
                  <a:lnTo>
                    <a:pt x="2409121" y="689480"/>
                  </a:lnTo>
                  <a:lnTo>
                    <a:pt x="0" y="68948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409121" cy="6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521932" y="2582514"/>
            <a:ext cx="8446749" cy="1826609"/>
          </a:xfrm>
          <a:custGeom>
            <a:avLst/>
            <a:gdLst/>
            <a:ahLst/>
            <a:cxnLst/>
            <a:rect r="r" b="b" t="t" l="l"/>
            <a:pathLst>
              <a:path h="1826609" w="8446749">
                <a:moveTo>
                  <a:pt x="0" y="0"/>
                </a:moveTo>
                <a:lnTo>
                  <a:pt x="8446749" y="0"/>
                </a:lnTo>
                <a:lnTo>
                  <a:pt x="8446749" y="1826609"/>
                </a:lnTo>
                <a:lnTo>
                  <a:pt x="0" y="1826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521932" y="5426227"/>
            <a:ext cx="7558186" cy="1303288"/>
          </a:xfrm>
          <a:custGeom>
            <a:avLst/>
            <a:gdLst/>
            <a:ahLst/>
            <a:cxnLst/>
            <a:rect r="r" b="b" t="t" l="l"/>
            <a:pathLst>
              <a:path h="1303288" w="7558186">
                <a:moveTo>
                  <a:pt x="0" y="0"/>
                </a:moveTo>
                <a:lnTo>
                  <a:pt x="7558186" y="0"/>
                </a:lnTo>
                <a:lnTo>
                  <a:pt x="7558186" y="1303288"/>
                </a:lnTo>
                <a:lnTo>
                  <a:pt x="0" y="1303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5986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3861" y="6872390"/>
            <a:ext cx="4116631" cy="2596871"/>
          </a:xfrm>
          <a:custGeom>
            <a:avLst/>
            <a:gdLst/>
            <a:ahLst/>
            <a:cxnLst/>
            <a:rect r="r" b="b" t="t" l="l"/>
            <a:pathLst>
              <a:path h="2596871" w="4116631">
                <a:moveTo>
                  <a:pt x="0" y="0"/>
                </a:moveTo>
                <a:lnTo>
                  <a:pt x="4116632" y="0"/>
                </a:lnTo>
                <a:lnTo>
                  <a:pt x="4116632" y="2596872"/>
                </a:lnTo>
                <a:lnTo>
                  <a:pt x="0" y="2596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5186" y="2419592"/>
            <a:ext cx="6549388" cy="3291068"/>
          </a:xfrm>
          <a:custGeom>
            <a:avLst/>
            <a:gdLst/>
            <a:ahLst/>
            <a:cxnLst/>
            <a:rect r="r" b="b" t="t" l="l"/>
            <a:pathLst>
              <a:path h="3291068" w="6549388">
                <a:moveTo>
                  <a:pt x="0" y="0"/>
                </a:moveTo>
                <a:lnTo>
                  <a:pt x="6549388" y="0"/>
                </a:lnTo>
                <a:lnTo>
                  <a:pt x="6549388" y="3291067"/>
                </a:lnTo>
                <a:lnTo>
                  <a:pt x="0" y="3291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112168" y="7302717"/>
            <a:ext cx="5949865" cy="1352960"/>
            <a:chOff x="0" y="0"/>
            <a:chExt cx="1567043" cy="3563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67043" cy="356335"/>
            </a:xfrm>
            <a:custGeom>
              <a:avLst/>
              <a:gdLst/>
              <a:ahLst/>
              <a:cxnLst/>
              <a:rect r="r" b="b" t="t" l="l"/>
              <a:pathLst>
                <a:path h="356335" w="1567043">
                  <a:moveTo>
                    <a:pt x="0" y="0"/>
                  </a:moveTo>
                  <a:lnTo>
                    <a:pt x="1567043" y="0"/>
                  </a:lnTo>
                  <a:lnTo>
                    <a:pt x="1567043" y="356335"/>
                  </a:lnTo>
                  <a:lnTo>
                    <a:pt x="0" y="35633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1567043" cy="32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252659" y="8095617"/>
            <a:ext cx="3433075" cy="454900"/>
          </a:xfrm>
          <a:custGeom>
            <a:avLst/>
            <a:gdLst/>
            <a:ahLst/>
            <a:cxnLst/>
            <a:rect r="r" b="b" t="t" l="l"/>
            <a:pathLst>
              <a:path h="454900" w="3433075">
                <a:moveTo>
                  <a:pt x="0" y="0"/>
                </a:moveTo>
                <a:lnTo>
                  <a:pt x="3433075" y="0"/>
                </a:lnTo>
                <a:lnTo>
                  <a:pt x="3433075" y="454901"/>
                </a:lnTo>
                <a:lnTo>
                  <a:pt x="0" y="454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IMPLEMENTAZIONE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6238" y="19959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BENCHMARK: ANNOTAZIONI JUNIT 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53984" y="212728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BUILD.GRADLES: IMPORT JUNIT 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21932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CONVERTER: RIDENOMINAZIONE COMANDO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6238" y="6444608"/>
            <a:ext cx="4543002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TEMPLATE JUNIT5 PER WRAPPER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96044" y="7481867"/>
            <a:ext cx="5382113" cy="4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2"/>
              </a:lnSpc>
              <a:spcBef>
                <a:spcPct val="0"/>
              </a:spcBef>
            </a:pPr>
            <a:r>
              <a:rPr lang="en-US" b="true" sz="1601" spc="54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RIDENOMINAZIONE DA JUNIT4 A WRAPPER BENCHMARK FACTORY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783121"/>
            <a:ext cx="10793017" cy="190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INTEGRAZIONE AMBER (MANUTENZIONE ADATTIVA)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098438"/>
            <a:ext cx="12639973" cy="17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L'istanza interna di parsing falliva sui file con sintassi Java moderne (livello 17/21). L'obiettivo era aggiornare l'infrastruttura e configurare il parser per supportare Amber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18810" y="2652767"/>
            <a:ext cx="11598547" cy="3621223"/>
            <a:chOff x="0" y="0"/>
            <a:chExt cx="3054761" cy="9537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644498" y="2971407"/>
            <a:ext cx="5250733" cy="3862525"/>
          </a:xfrm>
          <a:custGeom>
            <a:avLst/>
            <a:gdLst/>
            <a:ahLst/>
            <a:cxnLst/>
            <a:rect r="r" b="b" t="t" l="l"/>
            <a:pathLst>
              <a:path h="3862525" w="5250733">
                <a:moveTo>
                  <a:pt x="0" y="0"/>
                </a:moveTo>
                <a:lnTo>
                  <a:pt x="5250733" y="0"/>
                </a:lnTo>
                <a:lnTo>
                  <a:pt x="5250733" y="3862525"/>
                </a:lnTo>
                <a:lnTo>
                  <a:pt x="0" y="3862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IMPACT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1565" y="2420990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03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58810" y="2800058"/>
            <a:ext cx="12286497" cy="288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{InputClassRepository, Build.gradle}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{InputClassRepository, Build.gradle}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InputClassRepository, Build.gradle, jmh-core.1.37}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{∅}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{Converter, jmh-core-1.37}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18810" y="5991109"/>
            <a:ext cx="12021960" cy="21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 1.00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 0.5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810" y="4775702"/>
            <a:ext cx="5898959" cy="2349854"/>
            <a:chOff x="0" y="0"/>
            <a:chExt cx="1553635" cy="6188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635" cy="618892"/>
            </a:xfrm>
            <a:custGeom>
              <a:avLst/>
              <a:gdLst/>
              <a:ahLst/>
              <a:cxnLst/>
              <a:rect r="r" b="b" t="t" l="l"/>
              <a:pathLst>
                <a:path h="618892" w="1553635">
                  <a:moveTo>
                    <a:pt x="0" y="0"/>
                  </a:moveTo>
                  <a:lnTo>
                    <a:pt x="1553635" y="0"/>
                  </a:lnTo>
                  <a:lnTo>
                    <a:pt x="1553635" y="618892"/>
                  </a:lnTo>
                  <a:lnTo>
                    <a:pt x="0" y="61889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553635" cy="59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25026" y="4897585"/>
            <a:ext cx="8003855" cy="2106089"/>
            <a:chOff x="0" y="0"/>
            <a:chExt cx="2108011" cy="554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011" cy="554690"/>
            </a:xfrm>
            <a:custGeom>
              <a:avLst/>
              <a:gdLst/>
              <a:ahLst/>
              <a:cxnLst/>
              <a:rect r="r" b="b" t="t" l="l"/>
              <a:pathLst>
                <a:path h="554690" w="2108011">
                  <a:moveTo>
                    <a:pt x="0" y="0"/>
                  </a:moveTo>
                  <a:lnTo>
                    <a:pt x="2108011" y="0"/>
                  </a:lnTo>
                  <a:lnTo>
                    <a:pt x="2108011" y="554690"/>
                  </a:lnTo>
                  <a:lnTo>
                    <a:pt x="0" y="5546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08011" cy="52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18810" y="1898487"/>
            <a:ext cx="7282140" cy="2257446"/>
            <a:chOff x="0" y="0"/>
            <a:chExt cx="1917930" cy="5945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7930" cy="594554"/>
            </a:xfrm>
            <a:custGeom>
              <a:avLst/>
              <a:gdLst/>
              <a:ahLst/>
              <a:cxnLst/>
              <a:rect r="r" b="b" t="t" l="l"/>
              <a:pathLst>
                <a:path h="594554" w="1917930">
                  <a:moveTo>
                    <a:pt x="0" y="0"/>
                  </a:moveTo>
                  <a:lnTo>
                    <a:pt x="1917930" y="0"/>
                  </a:lnTo>
                  <a:lnTo>
                    <a:pt x="1917930" y="594554"/>
                  </a:lnTo>
                  <a:lnTo>
                    <a:pt x="0" y="594554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917930" cy="565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12168" y="1986384"/>
            <a:ext cx="8291354" cy="2617868"/>
            <a:chOff x="0" y="0"/>
            <a:chExt cx="2183731" cy="689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3731" cy="689480"/>
            </a:xfrm>
            <a:custGeom>
              <a:avLst/>
              <a:gdLst/>
              <a:ahLst/>
              <a:cxnLst/>
              <a:rect r="r" b="b" t="t" l="l"/>
              <a:pathLst>
                <a:path h="689480" w="2183731">
                  <a:moveTo>
                    <a:pt x="0" y="0"/>
                  </a:moveTo>
                  <a:lnTo>
                    <a:pt x="2183731" y="0"/>
                  </a:lnTo>
                  <a:lnTo>
                    <a:pt x="2183731" y="689480"/>
                  </a:lnTo>
                  <a:lnTo>
                    <a:pt x="0" y="68948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183731" cy="6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72252" y="2582514"/>
            <a:ext cx="6775255" cy="1278829"/>
          </a:xfrm>
          <a:custGeom>
            <a:avLst/>
            <a:gdLst/>
            <a:ahLst/>
            <a:cxnLst/>
            <a:rect r="r" b="b" t="t" l="l"/>
            <a:pathLst>
              <a:path h="1278829" w="6775255">
                <a:moveTo>
                  <a:pt x="0" y="0"/>
                </a:moveTo>
                <a:lnTo>
                  <a:pt x="6775256" y="0"/>
                </a:lnTo>
                <a:lnTo>
                  <a:pt x="6775256" y="1278829"/>
                </a:lnTo>
                <a:lnTo>
                  <a:pt x="0" y="12788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396044" y="2442802"/>
            <a:ext cx="7558527" cy="2113825"/>
          </a:xfrm>
          <a:custGeom>
            <a:avLst/>
            <a:gdLst/>
            <a:ahLst/>
            <a:cxnLst/>
            <a:rect r="r" b="b" t="t" l="l"/>
            <a:pathLst>
              <a:path h="2113825" w="7558527">
                <a:moveTo>
                  <a:pt x="0" y="0"/>
                </a:moveTo>
                <a:lnTo>
                  <a:pt x="7558527" y="0"/>
                </a:lnTo>
                <a:lnTo>
                  <a:pt x="7558527" y="2113825"/>
                </a:lnTo>
                <a:lnTo>
                  <a:pt x="0" y="2113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6238" y="5441808"/>
            <a:ext cx="5064992" cy="1295696"/>
          </a:xfrm>
          <a:custGeom>
            <a:avLst/>
            <a:gdLst/>
            <a:ahLst/>
            <a:cxnLst/>
            <a:rect r="r" b="b" t="t" l="l"/>
            <a:pathLst>
              <a:path h="1295696" w="5064992">
                <a:moveTo>
                  <a:pt x="0" y="0"/>
                </a:moveTo>
                <a:lnTo>
                  <a:pt x="5064992" y="0"/>
                </a:lnTo>
                <a:lnTo>
                  <a:pt x="5064992" y="1295696"/>
                </a:lnTo>
                <a:lnTo>
                  <a:pt x="0" y="1295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349257" y="5319291"/>
            <a:ext cx="6664287" cy="1587854"/>
          </a:xfrm>
          <a:custGeom>
            <a:avLst/>
            <a:gdLst/>
            <a:ahLst/>
            <a:cxnLst/>
            <a:rect r="r" b="b" t="t" l="l"/>
            <a:pathLst>
              <a:path h="1587854" w="6664287">
                <a:moveTo>
                  <a:pt x="0" y="0"/>
                </a:moveTo>
                <a:lnTo>
                  <a:pt x="6664287" y="0"/>
                </a:lnTo>
                <a:lnTo>
                  <a:pt x="6664287" y="1587854"/>
                </a:lnTo>
                <a:lnTo>
                  <a:pt x="0" y="1587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3430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IMPLEMENTAZIONE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238" y="19959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CONVERTER: LINGUAGGIO JAVA_17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53984" y="212728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BUILD.GRADLES: TOOLCHAIN JAVA_17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9047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PARSER BYTECODE JAVA_17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96044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INPUTCLASSREPOSITORY: BYTECODE JAVA_17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492139"/>
            <a:ext cx="10793017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CONTROLLO GRANULARITÀ (MANUTENZIONE PERFETTIVA)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098438"/>
            <a:ext cx="12639973" cy="17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tool obbligava l'utente a convertire intere classi. </a:t>
            </a:r>
          </a:p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Necessario introdurre un sistema per convertire metodi e risolvere il problema di sovrascrittura delle classi convertite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8810" y="2598146"/>
            <a:ext cx="11598547" cy="3621223"/>
            <a:chOff x="0" y="0"/>
            <a:chExt cx="3054761" cy="9537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703376" y="3100249"/>
            <a:ext cx="6583694" cy="2617018"/>
          </a:xfrm>
          <a:custGeom>
            <a:avLst/>
            <a:gdLst/>
            <a:ahLst/>
            <a:cxnLst/>
            <a:rect r="r" b="b" t="t" l="l"/>
            <a:pathLst>
              <a:path h="2617018" w="6583694">
                <a:moveTo>
                  <a:pt x="0" y="0"/>
                </a:moveTo>
                <a:lnTo>
                  <a:pt x="6583694" y="0"/>
                </a:lnTo>
                <a:lnTo>
                  <a:pt x="6583694" y="2617018"/>
                </a:lnTo>
                <a:lnTo>
                  <a:pt x="0" y="26170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IMPACT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6924" y="2364998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32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just">
              <a:lnSpc>
                <a:spcPts val="2282"/>
              </a:lnSpc>
            </a:pP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98810" y="2745438"/>
            <a:ext cx="12286497" cy="288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{Converter}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{Converter}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NestedBenchmarkBuilder, WrapperBenchmarkFactory}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{∅}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{NestedBenchmarkBuilder, WrapperBenchmarkFactory}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58810" y="5936488"/>
            <a:ext cx="12021960" cy="21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 1.00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 0.33 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25645" y="5556636"/>
            <a:ext cx="6047778" cy="3529088"/>
            <a:chOff x="0" y="0"/>
            <a:chExt cx="1592830" cy="929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2830" cy="929472"/>
            </a:xfrm>
            <a:custGeom>
              <a:avLst/>
              <a:gdLst/>
              <a:ahLst/>
              <a:cxnLst/>
              <a:rect r="r" b="b" t="t" l="l"/>
              <a:pathLst>
                <a:path h="929472" w="1592830">
                  <a:moveTo>
                    <a:pt x="0" y="0"/>
                  </a:moveTo>
                  <a:lnTo>
                    <a:pt x="1592830" y="0"/>
                  </a:lnTo>
                  <a:lnTo>
                    <a:pt x="1592830" y="929472"/>
                  </a:lnTo>
                  <a:lnTo>
                    <a:pt x="0" y="9294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592830" cy="900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6772" y="1904421"/>
            <a:ext cx="5570024" cy="6122802"/>
            <a:chOff x="0" y="0"/>
            <a:chExt cx="1467002" cy="16125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7002" cy="1612590"/>
            </a:xfrm>
            <a:custGeom>
              <a:avLst/>
              <a:gdLst/>
              <a:ahLst/>
              <a:cxnLst/>
              <a:rect r="r" b="b" t="t" l="l"/>
              <a:pathLst>
                <a:path h="1612590" w="1467002">
                  <a:moveTo>
                    <a:pt x="0" y="0"/>
                  </a:moveTo>
                  <a:lnTo>
                    <a:pt x="1467002" y="0"/>
                  </a:lnTo>
                  <a:lnTo>
                    <a:pt x="1467002" y="1612590"/>
                  </a:lnTo>
                  <a:lnTo>
                    <a:pt x="0" y="16125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467002" cy="158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5905402" y="7801977"/>
            <a:ext cx="3492652" cy="4109618"/>
          </a:xfrm>
          <a:custGeom>
            <a:avLst/>
            <a:gdLst/>
            <a:ahLst/>
            <a:cxnLst/>
            <a:rect r="r" b="b" t="t" l="l"/>
            <a:pathLst>
              <a:path h="4109618" w="3492652">
                <a:moveTo>
                  <a:pt x="0" y="4109618"/>
                </a:moveTo>
                <a:lnTo>
                  <a:pt x="3492653" y="4109618"/>
                </a:lnTo>
                <a:lnTo>
                  <a:pt x="3492653" y="0"/>
                </a:lnTo>
                <a:lnTo>
                  <a:pt x="0" y="0"/>
                </a:lnTo>
                <a:lnTo>
                  <a:pt x="0" y="410961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763074" y="1964419"/>
            <a:ext cx="6605326" cy="5579471"/>
            <a:chOff x="0" y="0"/>
            <a:chExt cx="1739674" cy="1469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9674" cy="1469490"/>
            </a:xfrm>
            <a:custGeom>
              <a:avLst/>
              <a:gdLst/>
              <a:ahLst/>
              <a:cxnLst/>
              <a:rect r="r" b="b" t="t" l="l"/>
              <a:pathLst>
                <a:path h="1469490" w="1739674">
                  <a:moveTo>
                    <a:pt x="0" y="0"/>
                  </a:moveTo>
                  <a:lnTo>
                    <a:pt x="1739674" y="0"/>
                  </a:lnTo>
                  <a:lnTo>
                    <a:pt x="1739674" y="1469490"/>
                  </a:lnTo>
                  <a:lnTo>
                    <a:pt x="0" y="14694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739674" cy="1440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70046" y="1904421"/>
            <a:ext cx="6303377" cy="3708635"/>
            <a:chOff x="0" y="0"/>
            <a:chExt cx="1660149" cy="97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0149" cy="976760"/>
            </a:xfrm>
            <a:custGeom>
              <a:avLst/>
              <a:gdLst/>
              <a:ahLst/>
              <a:cxnLst/>
              <a:rect r="r" b="b" t="t" l="l"/>
              <a:pathLst>
                <a:path h="976760" w="1660149">
                  <a:moveTo>
                    <a:pt x="0" y="0"/>
                  </a:moveTo>
                  <a:lnTo>
                    <a:pt x="1660149" y="0"/>
                  </a:lnTo>
                  <a:lnTo>
                    <a:pt x="1660149" y="976760"/>
                  </a:lnTo>
                  <a:lnTo>
                    <a:pt x="0" y="97676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660149" cy="948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892508" y="6306734"/>
            <a:ext cx="4705466" cy="2623298"/>
          </a:xfrm>
          <a:custGeom>
            <a:avLst/>
            <a:gdLst/>
            <a:ahLst/>
            <a:cxnLst/>
            <a:rect r="r" b="b" t="t" l="l"/>
            <a:pathLst>
              <a:path h="2623298" w="4705466">
                <a:moveTo>
                  <a:pt x="0" y="0"/>
                </a:moveTo>
                <a:lnTo>
                  <a:pt x="4705466" y="0"/>
                </a:lnTo>
                <a:lnTo>
                  <a:pt x="4705466" y="2623297"/>
                </a:lnTo>
                <a:lnTo>
                  <a:pt x="0" y="2623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021936" y="2935989"/>
            <a:ext cx="6087602" cy="3507981"/>
          </a:xfrm>
          <a:custGeom>
            <a:avLst/>
            <a:gdLst/>
            <a:ahLst/>
            <a:cxnLst/>
            <a:rect r="r" b="b" t="t" l="l"/>
            <a:pathLst>
              <a:path h="3507981" w="6087602">
                <a:moveTo>
                  <a:pt x="0" y="0"/>
                </a:moveTo>
                <a:lnTo>
                  <a:pt x="6087602" y="0"/>
                </a:lnTo>
                <a:lnTo>
                  <a:pt x="6087602" y="3507981"/>
                </a:lnTo>
                <a:lnTo>
                  <a:pt x="0" y="3507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001" y="4486467"/>
            <a:ext cx="5289084" cy="2922219"/>
          </a:xfrm>
          <a:custGeom>
            <a:avLst/>
            <a:gdLst/>
            <a:ahLst/>
            <a:cxnLst/>
            <a:rect r="r" b="b" t="t" l="l"/>
            <a:pathLst>
              <a:path h="2922219" w="5289084">
                <a:moveTo>
                  <a:pt x="0" y="0"/>
                </a:moveTo>
                <a:lnTo>
                  <a:pt x="5289084" y="0"/>
                </a:lnTo>
                <a:lnTo>
                  <a:pt x="5289084" y="2922219"/>
                </a:lnTo>
                <a:lnTo>
                  <a:pt x="0" y="29222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8810" y="2429578"/>
            <a:ext cx="4705466" cy="571687"/>
          </a:xfrm>
          <a:custGeom>
            <a:avLst/>
            <a:gdLst/>
            <a:ahLst/>
            <a:cxnLst/>
            <a:rect r="r" b="b" t="t" l="l"/>
            <a:pathLst>
              <a:path h="571687" w="4705466">
                <a:moveTo>
                  <a:pt x="0" y="0"/>
                </a:moveTo>
                <a:lnTo>
                  <a:pt x="4705466" y="0"/>
                </a:lnTo>
                <a:lnTo>
                  <a:pt x="4705466" y="571687"/>
                </a:lnTo>
                <a:lnTo>
                  <a:pt x="0" y="5716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66674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430107" y="2429578"/>
            <a:ext cx="5285216" cy="2847410"/>
          </a:xfrm>
          <a:custGeom>
            <a:avLst/>
            <a:gdLst/>
            <a:ahLst/>
            <a:cxnLst/>
            <a:rect r="r" b="b" t="t" l="l"/>
            <a:pathLst>
              <a:path h="2847410" w="5285216">
                <a:moveTo>
                  <a:pt x="0" y="0"/>
                </a:moveTo>
                <a:lnTo>
                  <a:pt x="5285216" y="0"/>
                </a:lnTo>
                <a:lnTo>
                  <a:pt x="5285216" y="2847410"/>
                </a:lnTo>
                <a:lnTo>
                  <a:pt x="0" y="2847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IMPLEMENTAZIONE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45104" y="2430514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NESTEDBENCHMARK FILTRO PER METODI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21377" y="200184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GENERAZIONE BENCHMARK ANNIDATI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21377" y="5765455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WRAPPER: RICONOSCIMENTO METODI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200184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COMANDO CONVERTER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7916" y="3784002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LOGICA MERGE,OVERWRITE, BACKUP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2845" y="2875690"/>
            <a:ext cx="15741814" cy="6382610"/>
            <a:chOff x="0" y="0"/>
            <a:chExt cx="4145992" cy="16810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45992" cy="1681017"/>
            </a:xfrm>
            <a:custGeom>
              <a:avLst/>
              <a:gdLst/>
              <a:ahLst/>
              <a:cxnLst/>
              <a:rect r="r" b="b" t="t" l="l"/>
              <a:pathLst>
                <a:path h="1681017" w="4145992">
                  <a:moveTo>
                    <a:pt x="8361" y="0"/>
                  </a:moveTo>
                  <a:lnTo>
                    <a:pt x="4137631" y="0"/>
                  </a:lnTo>
                  <a:cubicBezTo>
                    <a:pt x="4139848" y="0"/>
                    <a:pt x="4141975" y="881"/>
                    <a:pt x="4143543" y="2449"/>
                  </a:cubicBezTo>
                  <a:cubicBezTo>
                    <a:pt x="4145111" y="4017"/>
                    <a:pt x="4145992" y="6143"/>
                    <a:pt x="4145992" y="8361"/>
                  </a:cubicBezTo>
                  <a:lnTo>
                    <a:pt x="4145992" y="1672656"/>
                  </a:lnTo>
                  <a:cubicBezTo>
                    <a:pt x="4145992" y="1677274"/>
                    <a:pt x="4142249" y="1681017"/>
                    <a:pt x="4137631" y="1681017"/>
                  </a:cubicBezTo>
                  <a:lnTo>
                    <a:pt x="8361" y="1681017"/>
                  </a:lnTo>
                  <a:cubicBezTo>
                    <a:pt x="6143" y="1681017"/>
                    <a:pt x="4017" y="1680136"/>
                    <a:pt x="2449" y="1678568"/>
                  </a:cubicBezTo>
                  <a:cubicBezTo>
                    <a:pt x="881" y="1677000"/>
                    <a:pt x="0" y="1674874"/>
                    <a:pt x="0" y="1672656"/>
                  </a:cubicBezTo>
                  <a:lnTo>
                    <a:pt x="0" y="8361"/>
                  </a:lnTo>
                  <a:cubicBezTo>
                    <a:pt x="0" y="6143"/>
                    <a:pt x="881" y="4017"/>
                    <a:pt x="2449" y="2449"/>
                  </a:cubicBezTo>
                  <a:cubicBezTo>
                    <a:pt x="4017" y="881"/>
                    <a:pt x="6143" y="0"/>
                    <a:pt x="8361" y="0"/>
                  </a:cubicBezTo>
                  <a:close/>
                </a:path>
              </a:pathLst>
            </a:custGeom>
            <a:ln w="57150" cap="sq">
              <a:solidFill>
                <a:srgbClr val="F0F7F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4145992" cy="1652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55677" y="3662980"/>
            <a:ext cx="3814194" cy="748374"/>
            <a:chOff x="0" y="0"/>
            <a:chExt cx="1004561" cy="197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5228" y="775586"/>
            <a:ext cx="11069562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STRATEGIA DI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43346" y="3867817"/>
            <a:ext cx="3038854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WHITE BOX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1009" y="4698268"/>
            <a:ext cx="6483528" cy="48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Unit test (tramite JUnit e Mockito) per validare la manipolazione dell'AST.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206655" y="6436421"/>
            <a:ext cx="3814194" cy="748374"/>
            <a:chOff x="0" y="0"/>
            <a:chExt cx="1004561" cy="197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69289" y="6631965"/>
            <a:ext cx="3038854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6952" y="7394953"/>
            <a:ext cx="6483528" cy="7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Essendo una modifica architetturale, abbiamo adottato una strategia Retest-All per garantire la retrocompatibilità totale con JUnit 4.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00596" y="3662980"/>
            <a:ext cx="3814194" cy="748374"/>
            <a:chOff x="0" y="0"/>
            <a:chExt cx="1004561" cy="1971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588266" y="3750086"/>
            <a:ext cx="3038854" cy="5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BLACK BOX E GOLDEN 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0173" y="4698268"/>
            <a:ext cx="6355041" cy="7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System test basati sul Category Partition Method per validare gli input CLI e confrontare i file generati con "Oracoli" pre-calcolati.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39885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9" y="0"/>
                </a:lnTo>
                <a:lnTo>
                  <a:pt x="1052889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43737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41224" y="3380534"/>
            <a:ext cx="11793987" cy="8856212"/>
          </a:xfrm>
          <a:custGeom>
            <a:avLst/>
            <a:gdLst/>
            <a:ahLst/>
            <a:cxnLst/>
            <a:rect r="r" b="b" t="t" l="l"/>
            <a:pathLst>
              <a:path h="8856212" w="11793987">
                <a:moveTo>
                  <a:pt x="0" y="0"/>
                </a:moveTo>
                <a:lnTo>
                  <a:pt x="11793986" y="0"/>
                </a:lnTo>
                <a:lnTo>
                  <a:pt x="11793986" y="8856212"/>
                </a:lnTo>
                <a:lnTo>
                  <a:pt x="0" y="8856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65344" y="-299425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433789" y="307261"/>
            <a:ext cx="9153660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RISULTATI DI ESECUZIONE E REAL-WORLD TESTING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274888" y="1342350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97024" y="2057400"/>
            <a:ext cx="4351401" cy="8229600"/>
          </a:xfrm>
          <a:custGeom>
            <a:avLst/>
            <a:gdLst/>
            <a:ahLst/>
            <a:cxnLst/>
            <a:rect r="r" b="b" t="t" l="l"/>
            <a:pathLst>
              <a:path h="8229600" w="4351401">
                <a:moveTo>
                  <a:pt x="0" y="0"/>
                </a:moveTo>
                <a:lnTo>
                  <a:pt x="4351401" y="0"/>
                </a:lnTo>
                <a:lnTo>
                  <a:pt x="43514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17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924023" y="4762440"/>
            <a:ext cx="3814194" cy="748374"/>
            <a:chOff x="0" y="0"/>
            <a:chExt cx="1004561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10746" y="4849545"/>
            <a:ext cx="3038854" cy="5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MIGLIORAMENTO DELLA COPERTURA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023" y="5727622"/>
            <a:ext cx="3814194" cy="136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1"/>
              </a:lnSpc>
              <a:spcBef>
                <a:spcPct val="0"/>
              </a:spcBef>
            </a:pPr>
            <a:r>
              <a:rPr lang="en-US" sz="2039" spc="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code coverage (misurata con JaCoCo) del package core è passata dal 77% (Baseline) all'81% post-modifica.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01936" y="4762440"/>
            <a:ext cx="3814194" cy="748374"/>
            <a:chOff x="0" y="0"/>
            <a:chExt cx="1004561" cy="1971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214592" y="4870500"/>
            <a:ext cx="3038854" cy="54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STRESS TEST SU PROGETTI ENTERPRISE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1936" y="5727622"/>
            <a:ext cx="3685513" cy="299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6"/>
              </a:lnSpc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collaudato il sistema modificato su codebase complesse:</a:t>
            </a:r>
          </a:p>
          <a:p>
            <a:pPr algn="just">
              <a:lnSpc>
                <a:spcPts val="1826"/>
              </a:lnSpc>
            </a:pP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Apache Commons Lang.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Byte Buddy (uso intensivo di proxy e reflection).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Apache Kafka (test altamente strutturati in Java 17+).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Risultato: Il parser non è mai andato in crash.</a:t>
            </a: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03639" y="106647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49199" y="198055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9055" y="2346064"/>
            <a:ext cx="7728897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CONCLUSIONI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39108" y="3296458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Obiettivi di Qualità Raggiunti: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15438" y="7043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1126" y="16184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9"/>
                </a:lnTo>
                <a:lnTo>
                  <a:pt x="0" y="10528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82609" y="3879153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eseguito con successo il 100% della suite di test (40 test su 40 superati tra Unit, Integration e System Test).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Grazie alla strategia di Retest-All, abbiamo garantito l'assenza totale di regressioni: il comportamento storico su JUnit 4 è rimasto intatto.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Code Coverage del modulo core (se.chalmers.ju2jmh) è aumentata dal 77% (Baseline) all'81%, superando l'obiettivo prefissato dell'80%.</a:t>
            </a: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639108" y="6398881"/>
            <a:ext cx="6768791" cy="7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Stress Test su Progetti Reali (Real-World Validation):</a:t>
            </a:r>
          </a:p>
          <a:p>
            <a:pPr algn="just">
              <a:lnSpc>
                <a:spcPts val="2036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382609" y="7050949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sistema non è stato testato solo su file "giocattolo", ma validato su codebase enterprise complesse: Apache Commons Lang, Byte Buddy (uso intensivo di reflection) e Apache Kafka.</a:t>
            </a:r>
          </a:p>
          <a:p>
            <a:pPr algn="just">
              <a:lnSpc>
                <a:spcPts val="1826"/>
              </a:lnSpc>
            </a:pP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L'esplorazione dell'AST si è dimostrata robusta, non andando mai in crash neanche di fronte a gerarchie profonde o classi proxy.</a:t>
            </a: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9055" y="2346064"/>
            <a:ext cx="7728897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CONCLUSIONI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39108" y="3296458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Evoluzione del software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15438" y="7043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1126" y="16184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9"/>
                </a:lnTo>
                <a:lnTo>
                  <a:pt x="0" y="10528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82609" y="3879153"/>
            <a:ext cx="6768791" cy="230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Modernizzazione: Un tool aggiornato agli standard odierni, con pieno supporto al ciclo di vita di JUnit 5 e alle sintassi Java 17+ (Project Amber).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Sicu</a:t>
            </a: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rezza (Zero Data Loss): L'utente ha ora il pieno controllo. La validazione Fail-Fast previene elaborazioni inutili , mentre la gestione intelligente dei conflitti (creazione di copie .bak e merge dell'AST) garantisce che nessun dato venga perso accidentalmente.</a:t>
            </a: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639108" y="6398881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Valutazioni Metodologiche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2609" y="6803120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L'uso dell'Impact Analysis preventiva (tramite Call Graph e Matrici di Raggiungibilità) è stato cruciale. Ci ha permesso di non navigare "alla cieca", evidenziando fin da subito i colli di bottiglia architetturali.</a:t>
            </a:r>
          </a:p>
          <a:p>
            <a:pPr algn="just" marL="375627" indent="-187814" lvl="1">
              <a:lnSpc>
                <a:spcPts val="1826"/>
              </a:lnSpc>
              <a:spcBef>
                <a:spcPct val="0"/>
              </a:spcBef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confronto tra stime (CIS) e realtà (AIS) ci ha mostrato tangibilmente come requisiti apparentemente semplici (come il filtro sui metodi della CR03) possano nascondere un forte ripple effect (effetto a cascata) a causa di un alto accoppiamento nel codice legacy.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16186" y="1135773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762244" y="2186245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46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AMBER BENE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8024" y="4163770"/>
            <a:ext cx="11959365" cy="172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5"/>
              </a:lnSpc>
            </a:pPr>
            <a:r>
              <a:rPr lang="en-US" b="true" sz="10195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GRAZIE!</a:t>
            </a:r>
          </a:p>
          <a:p>
            <a:pPr algn="ctr">
              <a:lnSpc>
                <a:spcPts val="3145"/>
              </a:lnSpc>
            </a:pPr>
            <a:r>
              <a:rPr lang="en-US" b="true" sz="2996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PULL REQUEST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70932" y="232051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08844" y="140643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DAHCz3ulGzQ</dc:identifier>
  <dcterms:modified xsi:type="dcterms:W3CDTF">2011-08-01T06:04:30Z</dcterms:modified>
  <cp:revision>1</cp:revision>
  <dc:title>Green and Blue Futuristic Technology Computer Science Presentation</dc:title>
</cp:coreProperties>
</file>